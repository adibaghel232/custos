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 /><Relationship Id="rId2" Type="http://schemas.openxmlformats.org/package/2006/relationships/metadata/thumbnail" Target="docProps/thumbnail.jpeg" /><Relationship Id="rId1" Type="http://schemas.openxmlformats.org/officeDocument/2006/relationships/officeDocument" Target="ppt/presentation.xml" /><Relationship Id="rId5" Type="http://schemas.microsoft.com/office/2020/02/relationships/classificationlabels" Target="docMetadata/LabelInfo.xml" /><Relationship Id="rId4" Type="http://schemas.openxmlformats.org/officeDocument/2006/relationships/extended-properties" Target="docProps/app.xml" 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9"/>
  </p:notesMasterIdLst>
  <p:sldIdLst>
    <p:sldId id="261" r:id="rId2"/>
    <p:sldId id="263" r:id="rId3"/>
    <p:sldId id="256" r:id="rId4"/>
    <p:sldId id="257" r:id="rId5"/>
    <p:sldId id="258" r:id="rId6"/>
    <p:sldId id="259" r:id="rId7"/>
    <p:sldId id="265" r:id="rId8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Criteria" id="{86798D8C-64BB-83A5-C556-C417FC0BAE3A}">
          <p14:sldIdLst>
            <p14:sldId id="261"/>
            <p14:sldId id="263"/>
            <p14:sldId id="256"/>
            <p14:sldId id="257"/>
            <p14:sldId id="258"/>
            <p14:sldId id="259"/>
            <p14:sldId id="265"/>
          </p14:sldIdLst>
        </p14:section>
      </p14:section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 /><Relationship Id="rId13" Type="http://schemas.openxmlformats.org/officeDocument/2006/relationships/tableStyles" Target="tableStyles.xml" /><Relationship Id="rId3" Type="http://schemas.openxmlformats.org/officeDocument/2006/relationships/slide" Target="slides/slide2.xml" /><Relationship Id="rId7" Type="http://schemas.openxmlformats.org/officeDocument/2006/relationships/slide" Target="slides/slide6.xml" /><Relationship Id="rId12" Type="http://schemas.openxmlformats.org/officeDocument/2006/relationships/theme" Target="theme/theme1.xml" /><Relationship Id="rId2" Type="http://schemas.openxmlformats.org/officeDocument/2006/relationships/slide" Target="slides/slide1.xml" /><Relationship Id="rId1" Type="http://schemas.openxmlformats.org/officeDocument/2006/relationships/slideMaster" Target="slideMasters/slideMaster1.xml" /><Relationship Id="rId6" Type="http://schemas.openxmlformats.org/officeDocument/2006/relationships/slide" Target="slides/slide5.xml" /><Relationship Id="rId11" Type="http://schemas.openxmlformats.org/officeDocument/2006/relationships/viewProps" Target="viewProps.xml" /><Relationship Id="rId5" Type="http://schemas.openxmlformats.org/officeDocument/2006/relationships/slide" Target="slides/slide4.xml" /><Relationship Id="rId10" Type="http://schemas.openxmlformats.org/officeDocument/2006/relationships/presProps" Target="presProps.xml" /><Relationship Id="rId4" Type="http://schemas.openxmlformats.org/officeDocument/2006/relationships/slide" Target="slides/slide3.xml" /><Relationship Id="rId9" Type="http://schemas.openxmlformats.org/officeDocument/2006/relationships/notesMaster" Target="notesMasters/notesMaster1.xml" 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 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4608708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 /><Relationship Id="rId1" Type="http://schemas.openxmlformats.org/officeDocument/2006/relationships/notesMaster" Target="../notesMasters/notesMaster1.xml" 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 /><Relationship Id="rId1" Type="http://schemas.openxmlformats.org/officeDocument/2006/relationships/notesMaster" Target="../notesMasters/notesMaster1.xml" 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 /><Relationship Id="rId1" Type="http://schemas.openxmlformats.org/officeDocument/2006/relationships/notesMaster" Target="../notesMasters/notesMaster1.xml" 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 /><Relationship Id="rId1" Type="http://schemas.openxmlformats.org/officeDocument/2006/relationships/notesMaster" Target="../notesMasters/notesMaster1.xml" 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 /><Relationship Id="rId1" Type="http://schemas.openxmlformats.org/officeDocument/2006/relationships/notesMaster" Target="../notesMasters/notesMaster1.xml" 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 /><Relationship Id="rId1" Type="http://schemas.openxmlformats.org/officeDocument/2006/relationships/notesMaster" Target="../notesMasters/notesMaster1.xml" 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 /><Relationship Id="rId1" Type="http://schemas.openxmlformats.org/officeDocument/2006/relationships/notesMaster" Target="../notesMasters/notesMaster1.xml" 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85750" indent="-285750"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lang="en-US" sz="1500" b="1">
                <a:solidFill>
                  <a:schemeClr val="tx2"/>
                </a:solidFill>
              </a:rPr>
              <a:t>The Responsible AI risk</a:t>
            </a:r>
            <a:endParaRPr lang="en-US" sz="150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i="1">
                <a:solidFill>
                  <a:schemeClr val="accent4"/>
                </a:solidFill>
              </a:rPr>
              <a:t>Name the specific risk (e.g. unauthorized actions, poisoned memory, hidden bias, runaway cost). What can go wrong?</a:t>
            </a:r>
            <a:endParaRPr lang="en-US" sz="1500"/>
          </a:p>
          <a:p>
            <a:pPr marL="285750" indent="-285750"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lang="en-US" sz="1500" b="1">
                <a:solidFill>
                  <a:schemeClr val="tx2"/>
                </a:solidFill>
              </a:rPr>
              <a:t>Why it matters for agentic AI</a:t>
            </a:r>
            <a:endParaRPr lang="en-US" sz="150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i="1">
                <a:solidFill>
                  <a:schemeClr val="accent4"/>
                </a:solidFill>
              </a:rPr>
              <a:t>Why is this risk bigger or different for autonomous, multi-step agents than for a plain chatbot?</a:t>
            </a:r>
            <a:endParaRPr lang="en-US" sz="1500"/>
          </a:p>
          <a:p>
            <a:pPr marL="285750" indent="-285750"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lang="en-US" sz="1500" b="1">
                <a:solidFill>
                  <a:schemeClr val="tx2"/>
                </a:solidFill>
              </a:rPr>
              <a:t>Who is affected</a:t>
            </a:r>
            <a:endParaRPr lang="en-US" sz="150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i="1">
                <a:solidFill>
                  <a:schemeClr val="accent4"/>
                </a:solidFill>
              </a:rPr>
              <a:t>Beneficiaries and context: which users, enterprises, or parts of society gain from this being solved?</a:t>
            </a:r>
            <a:endParaRPr lang="en-US" sz="1500"/>
          </a:p>
          <a:p>
            <a:pPr marL="285750" indent="-285750"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lang="en-US" sz="1500" b="1">
                <a:solidFill>
                  <a:schemeClr val="tx2"/>
                </a:solidFill>
              </a:rPr>
              <a:t>Intended outcome</a:t>
            </a:r>
            <a:endParaRPr lang="en-US" sz="150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i="1">
                <a:solidFill>
                  <a:schemeClr val="accent4"/>
                </a:solidFill>
              </a:rPr>
              <a:t>What real-world harm is reduced, and how will you know it worked?</a:t>
            </a:r>
            <a:endParaRPr lang="en-US" sz="1500"/>
          </a:p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1200">
                <a:solidFill>
                  <a:schemeClr val="tx2"/>
                </a:solidFill>
              </a:rPr>
              <a:t>Originality of the solution and approach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1200">
                <a:solidFill>
                  <a:schemeClr val="tx2"/>
                </a:solidFill>
              </a:rPr>
              <a:t>Creative use of AI, automation, evaluation methods or agent frameworks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US" sz="1200">
              <a:solidFill>
                <a:schemeClr val="tx2"/>
              </a:solidFill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US" sz="1200">
              <a:solidFill>
                <a:schemeClr val="tx2"/>
              </a:solidFill>
            </a:endParaRPr>
          </a:p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1200">
                <a:solidFill>
                  <a:schemeClr val="tx2"/>
                </a:solidFill>
              </a:rPr>
              <a:t>Architecture diagram, models and framework and technology (Reasoning Behind the Chosen Approach)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1200">
                <a:solidFill>
                  <a:schemeClr val="tx2"/>
                </a:solidFill>
                <a:highlight>
                  <a:srgbClr val="FFFF00"/>
                </a:highlight>
              </a:rPr>
              <a:t>Scalability 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1200">
                <a:solidFill>
                  <a:schemeClr val="tx2"/>
                </a:solidFill>
                <a:highlight>
                  <a:srgbClr val="FFFF00"/>
                </a:highlight>
              </a:rPr>
              <a:t>Production readiness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1200">
                <a:solidFill>
                  <a:schemeClr val="tx2"/>
                </a:solidFill>
                <a:highlight>
                  <a:srgbClr val="FFFF00"/>
                </a:highlight>
              </a:rPr>
              <a:t>Cost optimization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US" sz="1600">
              <a:solidFill>
                <a:schemeClr val="tx2"/>
              </a:solidFill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US" sz="1800">
              <a:solidFill>
                <a:schemeClr val="tx2"/>
              </a:solidFill>
            </a:endParaRPr>
          </a:p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>
                <a:solidFill>
                  <a:schemeClr val="tx2"/>
                </a:solidFill>
              </a:rPr>
              <a:t>Define measurable metrics and sample test cases</a:t>
            </a:r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>
                <a:solidFill>
                  <a:schemeClr val="tx2"/>
                </a:solidFill>
              </a:rPr>
              <a:t>Minimum 5 Unique/market appropriate metrics </a:t>
            </a:r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endParaRPr lang="en-US" sz="1200">
              <a:solidFill>
                <a:schemeClr val="tx2"/>
              </a:solidFill>
            </a:endParaRPr>
          </a:p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 /><Relationship Id="rId1" Type="http://schemas.openxmlformats.org/officeDocument/2006/relationships/slideLayout" Target="../slideLayouts/slideLayout1.xml" 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 /><Relationship Id="rId2" Type="http://schemas.openxmlformats.org/officeDocument/2006/relationships/notesSlide" Target="../notesSlides/notesSlide1.xml" /><Relationship Id="rId1" Type="http://schemas.openxmlformats.org/officeDocument/2006/relationships/slideLayout" Target="../slideLayouts/slideLayout1.xml" /><Relationship Id="rId5" Type="http://schemas.openxmlformats.org/officeDocument/2006/relationships/image" Target="../media/image3.png" /><Relationship Id="rId4" Type="http://schemas.openxmlformats.org/officeDocument/2006/relationships/image" Target="../media/image2.png" 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 /><Relationship Id="rId1" Type="http://schemas.openxmlformats.org/officeDocument/2006/relationships/slideLayout" Target="../slideLayouts/slideLayout1.xml" 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 /><Relationship Id="rId1" Type="http://schemas.openxmlformats.org/officeDocument/2006/relationships/slideLayout" Target="../slideLayouts/slideLayout1.xml" 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 /><Relationship Id="rId1" Type="http://schemas.openxmlformats.org/officeDocument/2006/relationships/slideLayout" Target="../slideLayouts/slideLayout1.xml" 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 /><Relationship Id="rId1" Type="http://schemas.openxmlformats.org/officeDocument/2006/relationships/slideLayout" Target="../slideLayouts/slideLayout1.xml" 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 /><Relationship Id="rId1" Type="http://schemas.openxmlformats.org/officeDocument/2006/relationships/slideLayout" Target="../slideLayouts/slideLayout1.xml" 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 /><Relationship Id="rId1" Type="http://schemas.openxmlformats.org/officeDocument/2006/relationships/slideLayout" Target="../slideLayouts/slideLayout1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band"/>
          <p:cNvSpPr/>
          <p:nvPr/>
        </p:nvSpPr>
        <p:spPr>
          <a:xfrm>
            <a:off x="0" y="0"/>
            <a:ext cx="12188952" cy="3965076"/>
          </a:xfrm>
          <a:prstGeom prst="rect">
            <a:avLst/>
          </a:prstGeom>
          <a:solidFill>
            <a:schemeClr val="tx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 txBox="1"/>
          <p:nvPr/>
        </p:nvSpPr>
        <p:spPr>
          <a:xfrm>
            <a:off x="0" y="970416"/>
            <a:ext cx="121889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kern="0" spc="400">
                <a:solidFill>
                  <a:schemeClr val="accent1"/>
                </a:solidFill>
              </a:rPr>
              <a:t>INFOSYS  ×  IISc  ×  NVIDIA</a:t>
            </a:r>
            <a:endParaRPr lang="en-US" sz="2400"/>
          </a:p>
        </p:txBody>
      </p:sp>
      <p:sp>
        <p:nvSpPr>
          <p:cNvPr id="4" name="Title"/>
          <p:cNvSpPr txBox="1"/>
          <p:nvPr/>
        </p:nvSpPr>
        <p:spPr>
          <a:xfrm>
            <a:off x="0" y="1799658"/>
            <a:ext cx="12188952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400" b="1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AEGIS 2026</a:t>
            </a:r>
            <a:endParaRPr lang="en-US" sz="8400"/>
          </a:p>
        </p:txBody>
      </p:sp>
      <p:sp>
        <p:nvSpPr>
          <p:cNvPr id="7" name="Text 5"/>
          <p:cNvSpPr txBox="1"/>
          <p:nvPr/>
        </p:nvSpPr>
        <p:spPr>
          <a:xfrm>
            <a:off x="0" y="4526280"/>
            <a:ext cx="40629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kern="0" spc="300">
                <a:solidFill>
                  <a:schemeClr val="accent6"/>
                </a:solidFill>
              </a:rPr>
              <a:t>ORGANISED BY</a:t>
            </a:r>
            <a:endParaRPr lang="en-US" sz="1200"/>
          </a:p>
        </p:txBody>
      </p:sp>
      <p:pic>
        <p:nvPicPr>
          <p:cNvPr id="8" name="Image 0" descr="Infosys logo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6086" y="4983480"/>
            <a:ext cx="2510811" cy="1280160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4062984" y="4526280"/>
            <a:ext cx="40629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kern="0" spc="300">
                <a:solidFill>
                  <a:schemeClr val="accent6"/>
                </a:solidFill>
              </a:rPr>
              <a:t>HOSTED BY</a:t>
            </a:r>
            <a:endParaRPr lang="en-US" sz="1200"/>
          </a:p>
        </p:txBody>
      </p:sp>
      <p:pic>
        <p:nvPicPr>
          <p:cNvPr id="10" name="Image 1" descr="IISc logo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63819" y="4983480"/>
            <a:ext cx="1461315" cy="1280160"/>
          </a:xfrm>
          <a:prstGeom prst="rect">
            <a:avLst/>
          </a:prstGeom>
        </p:spPr>
      </p:pic>
      <p:sp>
        <p:nvSpPr>
          <p:cNvPr id="11" name="Shape 7"/>
          <p:cNvSpPr/>
          <p:nvPr/>
        </p:nvSpPr>
        <p:spPr>
          <a:xfrm>
            <a:off x="4062984" y="4572000"/>
            <a:ext cx="0" cy="1737360"/>
          </a:xfrm>
          <a:prstGeom prst="line">
            <a:avLst/>
          </a:prstGeom>
          <a:noFill/>
          <a:ln w="12700">
            <a:solidFill>
              <a:schemeClr val="accent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8"/>
          <p:cNvSpPr txBox="1"/>
          <p:nvPr/>
        </p:nvSpPr>
        <p:spPr>
          <a:xfrm>
            <a:off x="8125968" y="4526280"/>
            <a:ext cx="40629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kern="0" spc="300">
                <a:solidFill>
                  <a:schemeClr val="accent6"/>
                </a:solidFill>
              </a:rPr>
              <a:t>TECHNOLOGY PARTNER</a:t>
            </a:r>
            <a:endParaRPr lang="en-US" sz="1200"/>
          </a:p>
        </p:txBody>
      </p:sp>
      <p:pic>
        <p:nvPicPr>
          <p:cNvPr id="13" name="Image 2" descr="NVIDIA logo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785860" y="5361804"/>
            <a:ext cx="2743200" cy="523511"/>
          </a:xfrm>
          <a:prstGeom prst="rect">
            <a:avLst/>
          </a:prstGeom>
        </p:spPr>
      </p:pic>
      <p:sp>
        <p:nvSpPr>
          <p:cNvPr id="14" name="Shape 9"/>
          <p:cNvSpPr/>
          <p:nvPr/>
        </p:nvSpPr>
        <p:spPr>
          <a:xfrm>
            <a:off x="8125968" y="4572000"/>
            <a:ext cx="0" cy="1737360"/>
          </a:xfrm>
          <a:prstGeom prst="line">
            <a:avLst/>
          </a:prstGeom>
          <a:noFill/>
          <a:ln w="12700">
            <a:solidFill>
              <a:schemeClr val="accent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4114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>
                <a:solidFill>
                  <a:schemeClr val="accent6"/>
                </a:solidFill>
              </a:rPr>
              <a:t>AEGIS 2026  ·  TEAM OVERVIEW</a:t>
            </a:r>
            <a:endParaRPr lang="en-US" sz="1200"/>
          </a:p>
        </p:txBody>
      </p:sp>
      <p:sp>
        <p:nvSpPr>
          <p:cNvPr id="3" name="Title"/>
          <p:cNvSpPr txBox="1"/>
          <p:nvPr/>
        </p:nvSpPr>
        <p:spPr>
          <a:xfrm>
            <a:off x="457200" y="731520"/>
            <a:ext cx="1127455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Who we are and what we are building</a:t>
            </a:r>
            <a:endParaRPr lang="en-US" sz="3600"/>
          </a:p>
        </p:txBody>
      </p:sp>
      <p:sp>
        <p:nvSpPr>
          <p:cNvPr id="4" name="Card 1 body"/>
          <p:cNvSpPr/>
          <p:nvPr/>
        </p:nvSpPr>
        <p:spPr>
          <a:xfrm>
            <a:off x="457200" y="2606040"/>
            <a:ext cx="3575304" cy="3566160"/>
          </a:xfrm>
          <a:prstGeom prst="rect">
            <a:avLst/>
          </a:prstGeom>
          <a:solidFill>
            <a:schemeClr val="bg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Card 1 header"/>
          <p:cNvSpPr/>
          <p:nvPr/>
        </p:nvSpPr>
        <p:spPr>
          <a:xfrm>
            <a:off x="457200" y="1691640"/>
            <a:ext cx="3575304" cy="914400"/>
          </a:xfrm>
          <a:prstGeom prst="rect">
            <a:avLst/>
          </a:prstGeom>
          <a:solidFill>
            <a:schemeClr val="tx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 txBox="1"/>
          <p:nvPr/>
        </p:nvSpPr>
        <p:spPr>
          <a:xfrm>
            <a:off x="685800" y="1691640"/>
            <a:ext cx="731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3000"/>
          </a:p>
        </p:txBody>
      </p:sp>
      <p:sp>
        <p:nvSpPr>
          <p:cNvPr id="7" name="Card 1 heading"/>
          <p:cNvSpPr txBox="1"/>
          <p:nvPr/>
        </p:nvSpPr>
        <p:spPr>
          <a:xfrm>
            <a:off x="1417320" y="1691640"/>
            <a:ext cx="243230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>
                <a:solidFill>
                  <a:schemeClr val="bg1"/>
                </a:solidFill>
              </a:rPr>
              <a:t>Team</a:t>
            </a:r>
            <a:br>
              <a:rPr lang="en-US" sz="2000" b="1">
                <a:solidFill>
                  <a:schemeClr val="bg1"/>
                </a:solidFill>
              </a:rPr>
            </a:br>
            <a:r>
              <a:rPr lang="en-US" sz="2000" b="1">
                <a:solidFill>
                  <a:schemeClr val="bg1"/>
                </a:solidFill>
              </a:rPr>
              <a:t>Introduction</a:t>
            </a:r>
            <a:endParaRPr lang="en-US" sz="2000"/>
          </a:p>
        </p:txBody>
      </p:sp>
      <p:sp>
        <p:nvSpPr>
          <p:cNvPr id="9" name="Card 2 body"/>
          <p:cNvSpPr/>
          <p:nvPr/>
        </p:nvSpPr>
        <p:spPr>
          <a:xfrm>
            <a:off x="4306824" y="2606040"/>
            <a:ext cx="3575304" cy="3566160"/>
          </a:xfrm>
          <a:prstGeom prst="rect">
            <a:avLst/>
          </a:prstGeom>
          <a:solidFill>
            <a:schemeClr val="bg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Card 2 header"/>
          <p:cNvSpPr/>
          <p:nvPr/>
        </p:nvSpPr>
        <p:spPr>
          <a:xfrm>
            <a:off x="4306824" y="1691640"/>
            <a:ext cx="3575304" cy="914400"/>
          </a:xfrm>
          <a:prstGeom prst="rect">
            <a:avLst/>
          </a:prstGeom>
          <a:solidFill>
            <a:schemeClr val="tx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 txBox="1"/>
          <p:nvPr/>
        </p:nvSpPr>
        <p:spPr>
          <a:xfrm>
            <a:off x="4535424" y="1691640"/>
            <a:ext cx="731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3000"/>
          </a:p>
        </p:txBody>
      </p:sp>
      <p:sp>
        <p:nvSpPr>
          <p:cNvPr id="12" name="Card 2 heading"/>
          <p:cNvSpPr txBox="1"/>
          <p:nvPr/>
        </p:nvSpPr>
        <p:spPr>
          <a:xfrm>
            <a:off x="5266944" y="1691640"/>
            <a:ext cx="243230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>
                <a:solidFill>
                  <a:schemeClr val="bg1"/>
                </a:solidFill>
              </a:rPr>
              <a:t>Selected problem statement</a:t>
            </a:r>
            <a:endParaRPr lang="en-US" sz="2000"/>
          </a:p>
        </p:txBody>
      </p:sp>
      <p:sp>
        <p:nvSpPr>
          <p:cNvPr id="14" name="Card 3 body"/>
          <p:cNvSpPr/>
          <p:nvPr/>
        </p:nvSpPr>
        <p:spPr>
          <a:xfrm>
            <a:off x="8156448" y="2606040"/>
            <a:ext cx="3575304" cy="3566160"/>
          </a:xfrm>
          <a:prstGeom prst="rect">
            <a:avLst/>
          </a:prstGeom>
          <a:solidFill>
            <a:schemeClr val="bg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Card 3 header"/>
          <p:cNvSpPr/>
          <p:nvPr/>
        </p:nvSpPr>
        <p:spPr>
          <a:xfrm>
            <a:off x="8156448" y="1691640"/>
            <a:ext cx="3575304" cy="914400"/>
          </a:xfrm>
          <a:prstGeom prst="rect">
            <a:avLst/>
          </a:prstGeom>
          <a:solidFill>
            <a:schemeClr val="tx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 txBox="1"/>
          <p:nvPr/>
        </p:nvSpPr>
        <p:spPr>
          <a:xfrm>
            <a:off x="8385048" y="1691640"/>
            <a:ext cx="731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3000"/>
          </a:p>
        </p:txBody>
      </p:sp>
      <p:sp>
        <p:nvSpPr>
          <p:cNvPr id="17" name="Card 3 heading"/>
          <p:cNvSpPr txBox="1"/>
          <p:nvPr/>
        </p:nvSpPr>
        <p:spPr>
          <a:xfrm>
            <a:off x="9116568" y="1691640"/>
            <a:ext cx="243230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>
                <a:solidFill>
                  <a:schemeClr val="bg1"/>
                </a:solidFill>
              </a:rPr>
              <a:t>Your solution overview</a:t>
            </a:r>
            <a:endParaRPr lang="en-US" sz="2000"/>
          </a:p>
        </p:txBody>
      </p:sp>
      <p:sp>
        <p:nvSpPr>
          <p:cNvPr id="18" name="TextBox 17"/>
          <p:cNvSpPr txBox="1"/>
          <p:nvPr/>
        </p:nvSpPr>
        <p:spPr>
          <a:xfrm>
            <a:off x="640080" y="2770632"/>
            <a:ext cx="3209544" cy="32461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950" b="1" i="0" spc="120">
                <a:solidFill>
                  <a:srgbClr val="3A5A8C"/>
                </a:solidFill>
                <a:latin typeface="Calibri"/>
              </a:rPr>
              <a:t>TEAM</a:t>
            </a: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1800"/>
              </a:spcAft>
              <a:buNone/>
            </a:pPr>
            <a:r>
              <a:rPr sz="2600" b="1" i="0">
                <a:solidFill>
                  <a:srgbClr val="0A1F4B"/>
                </a:solidFill>
                <a:latin typeface="Cambria"/>
              </a:rPr>
              <a:t>Charlies</a:t>
            </a: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  <a:buNone/>
            </a:pPr>
            <a:r>
              <a:rPr sz="950" b="1" i="0" spc="120">
                <a:solidFill>
                  <a:srgbClr val="3A5A8C"/>
                </a:solidFill>
                <a:latin typeface="Calibri"/>
              </a:rPr>
              <a:t>MEMBERS</a:t>
            </a: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700"/>
              </a:spcAft>
              <a:buNone/>
            </a:pPr>
            <a:r>
              <a:rPr sz="1500" b="1" i="0">
                <a:solidFill>
                  <a:srgbClr val="0A1F4B"/>
                </a:solidFill>
                <a:latin typeface="Calibri"/>
              </a:rPr>
              <a:t>Aditya Baghel</a:t>
            </a: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500" b="1" i="0">
                <a:solidFill>
                  <a:srgbClr val="0A1F4B"/>
                </a:solidFill>
                <a:latin typeface="Calibri"/>
              </a:rPr>
              <a:t>Karan Singh Madhwal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489704" y="2770632"/>
            <a:ext cx="3209544" cy="32461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None/>
            </a:pPr>
            <a:r>
              <a:rPr sz="950" b="1" i="0" spc="120">
                <a:solidFill>
                  <a:srgbClr val="3A5A8C"/>
                </a:solidFill>
                <a:latin typeface="Calibri"/>
              </a:rPr>
              <a:t>PROBLEM STATEMENT 04</a:t>
            </a:r>
          </a:p>
          <a:p>
            <a:pPr marL="0" indent="0" algn="l">
              <a:lnSpc>
                <a:spcPct val="9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sz="1600" b="1" i="0">
                <a:solidFill>
                  <a:srgbClr val="0A1F4B"/>
                </a:solidFill>
                <a:latin typeface="Cambria"/>
              </a:rPr>
              <a:t>Agent Memory Governance Evaluation</a:t>
            </a: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None/>
            </a:pPr>
            <a:r>
              <a:rPr sz="950" b="1" i="0" spc="120">
                <a:solidFill>
                  <a:srgbClr val="3A5A8C"/>
                </a:solidFill>
                <a:latin typeface="Calibri"/>
              </a:rPr>
              <a:t>RESPONSIBLE AI PILLARS</a:t>
            </a: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sz="1100" b="0" i="0">
                <a:solidFill>
                  <a:srgbClr val="0F1B33"/>
                </a:solidFill>
                <a:latin typeface="Calibri"/>
              </a:rPr>
              <a:t>Security · Privacy · Safety · Reliability</a:t>
            </a: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sz="950" b="1" i="0" spc="120">
                <a:solidFill>
                  <a:srgbClr val="3A5A8C"/>
                </a:solidFill>
                <a:latin typeface="Calibri"/>
              </a:rPr>
              <a:t>TECHNIQUES IN THE BRIEF</a:t>
            </a:r>
          </a:p>
          <a:p>
            <a:pPr marL="118872" indent="-118872"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rgbClr val="3A5A8C"/>
              </a:buClr>
              <a:buFont typeface="Arial"/>
              <a:buChar char="•"/>
            </a:pPr>
            <a:r>
              <a:rPr sz="1100" b="0" i="0">
                <a:solidFill>
                  <a:srgbClr val="0F1B33"/>
                </a:solidFill>
                <a:latin typeface="Calibri"/>
              </a:rPr>
              <a:t>Memory poisoning tests</a:t>
            </a:r>
          </a:p>
          <a:p>
            <a:pPr marL="118872" indent="-118872"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rgbClr val="3A5A8C"/>
              </a:buClr>
              <a:buFont typeface="Arial"/>
              <a:buChar char="•"/>
            </a:pPr>
            <a:r>
              <a:rPr sz="1100" b="0" i="0">
                <a:solidFill>
                  <a:srgbClr val="0F1B33"/>
                </a:solidFill>
                <a:latin typeface="Calibri"/>
              </a:rPr>
              <a:t>Memory provenance tracking</a:t>
            </a:r>
          </a:p>
          <a:p>
            <a:pPr marL="118872" indent="-118872"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rgbClr val="3A5A8C"/>
              </a:buClr>
              <a:buFont typeface="Arial"/>
              <a:buChar char="•"/>
            </a:pPr>
            <a:r>
              <a:rPr sz="1100" b="0" i="0">
                <a:solidFill>
                  <a:srgbClr val="0F1B33"/>
                </a:solidFill>
                <a:latin typeface="Calibri"/>
              </a:rPr>
              <a:t>Consistency and contradiction detection</a:t>
            </a:r>
          </a:p>
          <a:p>
            <a:pPr marL="118872" indent="-11887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A5A8C"/>
              </a:buClr>
              <a:buFont typeface="Arial"/>
              <a:buChar char="•"/>
            </a:pPr>
            <a:r>
              <a:rPr sz="1100" b="0" i="0">
                <a:solidFill>
                  <a:srgbClr val="0F1B33"/>
                </a:solidFill>
                <a:latin typeface="Calibri"/>
              </a:rPr>
              <a:t>Access control and isolation testing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39327" y="2770632"/>
            <a:ext cx="3209544" cy="32461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800" b="1" i="0">
                <a:solidFill>
                  <a:srgbClr val="0A1F4B"/>
                </a:solidFill>
                <a:latin typeface="Cambria"/>
              </a:rPr>
              <a:t>Custos</a:t>
            </a: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sz="1050" b="1" i="0">
                <a:solidFill>
                  <a:srgbClr val="3A5A8C"/>
                </a:solidFill>
                <a:latin typeface="Calibri"/>
              </a:rPr>
              <a:t>Chain of custody for agent memory</a:t>
            </a: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100" b="1" i="0">
                <a:solidFill>
                  <a:srgbClr val="0A1F4B"/>
                </a:solidFill>
                <a:latin typeface="Calibri"/>
              </a:rPr>
              <a:t>Custos-Bench </a:t>
            </a:r>
            <a:r>
              <a:rPr sz="1100" b="0" i="0">
                <a:solidFill>
                  <a:srgbClr val="0F1B33"/>
                </a:solidFill>
                <a:latin typeface="Calibri"/>
              </a:rPr>
              <a:t>attacks any memory backend (Mem0, Letta, Graphiti, LangGraph) with 11 attack families and an adaptive attacker, and scores it on 14 metrics.</a:t>
            </a: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00" b="1" i="0">
                <a:solidFill>
                  <a:srgbClr val="0A1F4B"/>
                </a:solidFill>
                <a:latin typeface="Calibri"/>
              </a:rPr>
              <a:t>Custos Gateway </a:t>
            </a:r>
            <a:r>
              <a:rPr sz="1100" b="0" i="0">
                <a:solidFill>
                  <a:srgbClr val="0F1B33"/>
                </a:solidFill>
                <a:latin typeface="Calibri"/>
              </a:rPr>
              <a:t>sits between the agent and its memory. Every record carries its source and trust tier, lower-trust writes cannot overwrite higher-trust facts, tiers survive summarisation, risky actions are gated on memory trust, and a poison is rolled back with everything derived from it.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457200" y="320040"/>
            <a:ext cx="112745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1. Solution Relevance &amp; Impact  </a:t>
            </a:r>
            <a:endParaRPr lang="en-US" sz="3200">
              <a:solidFill>
                <a:schemeClr val="tx2"/>
              </a:solidFill>
            </a:endParaRPr>
          </a:p>
        </p:txBody>
      </p:sp>
      <p:sp>
        <p:nvSpPr>
          <p:cNvPr id="10" name="Card 1 body">
            <a:extLst>
              <a:ext uri="{FF2B5EF4-FFF2-40B4-BE49-F238E27FC236}">
                <a16:creationId xmlns:a16="http://schemas.microsoft.com/office/drawing/2014/main" id="{64EFEDC8-10AC-E4E7-110C-F3F8A4A39142}"/>
              </a:ext>
            </a:extLst>
          </p:cNvPr>
          <p:cNvSpPr/>
          <p:nvPr/>
        </p:nvSpPr>
        <p:spPr>
          <a:xfrm>
            <a:off x="457200" y="983673"/>
            <a:ext cx="11274552" cy="5554287"/>
          </a:xfrm>
          <a:prstGeom prst="rect">
            <a:avLst/>
          </a:prstGeom>
          <a:solidFill>
            <a:schemeClr val="bg2"/>
          </a:solidFill>
          <a:ln/>
        </p:spPr>
        <p:txBody>
          <a:bodyPr lIns="182880" tIns="91440"/>
          <a:lstStyle/>
          <a:p>
            <a:r>
              <a:rPr lang="en-US" sz="1000" i="1">
                <a:solidFill>
                  <a:srgbClr val="5A6B85"/>
                </a:solidFill>
                <a:latin typeface="Calibri"/>
              </a:rPr>
              <a:t>How is your solution relevant to the problem statement?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88352" y="1325880"/>
            <a:ext cx="4160520" cy="29260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400" b="1" i="0">
                <a:solidFill>
                  <a:srgbClr val="0A1F4B"/>
                </a:solidFill>
                <a:latin typeface="Cambria"/>
              </a:rPr>
              <a:t>Memory poisoning already works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1325880"/>
            <a:ext cx="6519672" cy="29260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400" b="1" i="0">
                <a:solidFill>
                  <a:srgbClr val="0A1F4B"/>
                </a:solidFill>
                <a:latin typeface="Cambria"/>
              </a:rPr>
              <a:t>Every technique in PS 04, answered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88352" y="1719072"/>
            <a:ext cx="201168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7507224" y="1792224"/>
            <a:ext cx="1773936" cy="38404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400" b="1" i="0">
                <a:solidFill>
                  <a:srgbClr val="0A1F4B"/>
                </a:solidFill>
                <a:latin typeface="Cambria"/>
              </a:rPr>
              <a:t>76.8%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507224" y="2194560"/>
            <a:ext cx="1773936" cy="71323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50" b="0" i="0">
                <a:solidFill>
                  <a:srgbClr val="0F1B33"/>
                </a:solidFill>
                <a:latin typeface="Calibri"/>
              </a:rPr>
              <a:t>attack success of MINJA, which poisons agent memory through ordinary queries alone; 98.2% of its injections get stored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507224" y="2907791"/>
            <a:ext cx="1773936" cy="1828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00" b="0" i="0">
                <a:solidFill>
                  <a:srgbClr val="5A6B85"/>
                </a:solidFill>
                <a:latin typeface="Calibri"/>
              </a:rPr>
              <a:t>Dong et al., 2025 [1]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537192" y="1719072"/>
            <a:ext cx="201168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9656064" y="1792224"/>
            <a:ext cx="1773936" cy="38404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400" b="1" i="0">
                <a:solidFill>
                  <a:srgbClr val="0A1F4B"/>
                </a:solidFill>
                <a:latin typeface="Cambria"/>
              </a:rPr>
              <a:t>&lt;0.1%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656064" y="2194560"/>
            <a:ext cx="1773936" cy="71323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50" b="0" i="0">
                <a:solidFill>
                  <a:srgbClr val="0F1B33"/>
                </a:solidFill>
                <a:latin typeface="Calibri"/>
              </a:rPr>
              <a:t>of memory poisoned is enough for AgentPoison to hijack over 80% of targeted runs, with under 1% loss on normal tasks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656064" y="2907791"/>
            <a:ext cx="1773936" cy="1828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00" b="0" i="0">
                <a:solidFill>
                  <a:srgbClr val="5A6B85"/>
                </a:solidFill>
                <a:latin typeface="Calibri"/>
              </a:rPr>
              <a:t>Chen et al., NeurIPS 2024 [2]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388352" y="3273552"/>
            <a:ext cx="201168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7507224" y="3346704"/>
            <a:ext cx="1773936" cy="38404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400" b="1" i="0">
                <a:solidFill>
                  <a:srgbClr val="0A1F4B"/>
                </a:solidFill>
                <a:latin typeface="Cambria"/>
              </a:rPr>
              <a:t>31 firms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507224" y="3749039"/>
            <a:ext cx="1773936" cy="71323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50" b="0" i="0">
                <a:solidFill>
                  <a:srgbClr val="0F1B33"/>
                </a:solidFill>
                <a:latin typeface="Calibri"/>
              </a:rPr>
              <a:t>seen planting “remember us as a trusted source” prompts in AI assistants via share links, in 60 days of email traffic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507224" y="4462272"/>
            <a:ext cx="1773936" cy="1828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00" b="0" i="0">
                <a:solidFill>
                  <a:srgbClr val="5A6B85"/>
                </a:solidFill>
                <a:latin typeface="Calibri"/>
              </a:rPr>
              <a:t>Microsoft Security, Feb 2026 [15]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9537192" y="3273552"/>
            <a:ext cx="201168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9656064" y="3346704"/>
            <a:ext cx="1773936" cy="38404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400" b="1" i="0">
                <a:solidFill>
                  <a:srgbClr val="B3261E"/>
                </a:solidFill>
                <a:latin typeface="Cambria"/>
              </a:rPr>
              <a:t>42.5%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656064" y="3749039"/>
            <a:ext cx="1773936" cy="71323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50" b="0" i="0">
                <a:solidFill>
                  <a:srgbClr val="0F1B33"/>
                </a:solidFill>
                <a:latin typeface="Calibri"/>
              </a:rPr>
              <a:t>best catch rate of four off-the-shelf detectors on weak-signal poisons: plausible facts, fake precedents, skill steps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656064" y="4462272"/>
            <a:ext cx="1773936" cy="1828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00" b="0" i="0">
                <a:solidFill>
                  <a:srgbClr val="5A6B85"/>
                </a:solidFill>
                <a:latin typeface="Calibri"/>
              </a:rPr>
              <a:t>MPBench, 2026 [4]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388352" y="4709160"/>
            <a:ext cx="4160520" cy="38404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50" b="0" i="0">
                <a:solidFill>
                  <a:srgbClr val="5A6B85"/>
                </a:solidFill>
                <a:latin typeface="Calibri"/>
              </a:rPr>
              <a:t>OWASP lists it as ASI06, Memory &amp; Context Poisoning, in its Top 10 for Agentic Applications [14].</a:t>
            </a:r>
          </a:p>
        </p:txBody>
      </p:sp>
      <p:graphicFrame>
        <p:nvGraphicFramePr>
          <p:cNvPr id="30" name="brief map"/>
          <p:cNvGraphicFramePr>
            <a:graphicFrameLocks noGrp="1"/>
          </p:cNvGraphicFramePr>
          <p:nvPr/>
        </p:nvGraphicFramePr>
        <p:xfrm>
          <a:off x="640080" y="1719072"/>
          <a:ext cx="6519672" cy="3346704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19202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04495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544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10896"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000" b="1" i="0">
                          <a:solidFill>
                            <a:srgbClr val="FFFFFF"/>
                          </a:solidFill>
                          <a:latin typeface="Calibri"/>
                        </a:rPr>
                        <a:t>The brief asks for</a:t>
                      </a:r>
                    </a:p>
                  </a:txBody>
                  <a:tcPr marT="73152" marB="73152" anchor="ctr">
                    <a:solidFill>
                      <a:srgbClr val="0A1F4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000" b="1" i="0">
                          <a:solidFill>
                            <a:srgbClr val="FFFFFF"/>
                          </a:solidFill>
                          <a:latin typeface="Calibri"/>
                        </a:rPr>
                        <a:t>Custos answer</a:t>
                      </a:r>
                    </a:p>
                  </a:txBody>
                  <a:tcPr marT="73152" marB="73152" anchor="ctr">
                    <a:solidFill>
                      <a:srgbClr val="0A1F4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000" b="1" i="0">
                          <a:solidFill>
                            <a:srgbClr val="FFFFFF"/>
                          </a:solidFill>
                          <a:latin typeface="Calibri"/>
                        </a:rPr>
                        <a:t>Measured by</a:t>
                      </a:r>
                    </a:p>
                  </a:txBody>
                  <a:tcPr marT="73152" marB="73152" anchor="ctr">
                    <a:solidFill>
                      <a:srgbClr val="0A1F4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58952"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50"/>
                        </a:spcAft>
                        <a:buNone/>
                      </a:pPr>
                      <a:r>
                        <a:rPr sz="1000" b="1" i="0">
                          <a:solidFill>
                            <a:srgbClr val="0A1F4B"/>
                          </a:solidFill>
                          <a:latin typeface="Calibri"/>
                        </a:rPr>
                        <a:t>Memory poisoning tests</a:t>
                      </a:r>
                    </a:p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900" b="0" i="0">
                          <a:solidFill>
                            <a:srgbClr val="5A6B85"/>
                          </a:solidFill>
                          <a:latin typeface="Calibri"/>
                        </a:rPr>
                        <a:t>inject malicious or misleading data, test resistance</a:t>
                      </a:r>
                    </a:p>
                  </a:txBody>
                  <a:tcPr marT="73152" marB="7315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000" b="0" i="0">
                          <a:solidFill>
                            <a:srgbClr val="0F1B33"/>
                          </a:solidFill>
                          <a:latin typeface="Calibri"/>
                        </a:rPr>
                        <a:t>Custos-Bench: 11 attack families (MPBench, MINJA, AgentPoison, PoisonedRAG, plus sleeper, drift and laundering) and an adaptive LLM attacker, run on finance, support, email and multi-agent scenarios</a:t>
                      </a:r>
                    </a:p>
                  </a:txBody>
                  <a:tcPr marT="73152" marB="7315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000" b="0" i="0">
                          <a:solidFill>
                            <a:srgbClr val="0F1B33"/>
                          </a:solidFill>
                          <a:latin typeface="Calibri"/>
                        </a:rPr>
                        <a:t>injection and attack success, adaptive ASR, persistence</a:t>
                      </a:r>
                    </a:p>
                  </a:txBody>
                  <a:tcPr marT="73152" marB="7315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58952"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50"/>
                        </a:spcAft>
                        <a:buNone/>
                      </a:pPr>
                      <a:r>
                        <a:rPr sz="1000" b="1" i="0">
                          <a:solidFill>
                            <a:srgbClr val="0A1F4B"/>
                          </a:solidFill>
                          <a:latin typeface="Calibri"/>
                        </a:rPr>
                        <a:t>Memory provenance tracking</a:t>
                      </a:r>
                    </a:p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900" b="0" i="0">
                          <a:solidFill>
                            <a:srgbClr val="5A6B85"/>
                          </a:solidFill>
                          <a:latin typeface="Calibri"/>
                        </a:rPr>
                        <a:t>verify origin and trustworthiness</a:t>
                      </a:r>
                    </a:p>
                  </a:txBody>
                  <a:tcPr marT="73152" marB="73152" anchor="ctr">
                    <a:solidFill>
                      <a:srgbClr val="F6F8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000" b="0" i="0">
                          <a:solidFill>
                            <a:srgbClr val="0F1B33"/>
                          </a:solidFill>
                          <a:latin typeface="Calibri"/>
                        </a:rPr>
                        <a:t>Custody ledger: signed, hash-chained record of source, principal, parents and trust tier; tiers survive summarisation</a:t>
                      </a:r>
                    </a:p>
                  </a:txBody>
                  <a:tcPr marT="73152" marB="73152" anchor="ctr">
                    <a:solidFill>
                      <a:srgbClr val="F6F8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000" b="0" i="0">
                          <a:solidFill>
                            <a:srgbClr val="0F1B33"/>
                          </a:solidFill>
                          <a:latin typeface="Calibri"/>
                        </a:rPr>
                        <a:t>lineage coverage, tamper detection, attribution accuracy</a:t>
                      </a:r>
                    </a:p>
                  </a:txBody>
                  <a:tcPr marT="73152" marB="73152" anchor="ctr">
                    <a:solidFill>
                      <a:srgbClr val="F6F8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58952"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50"/>
                        </a:spcAft>
                        <a:buNone/>
                      </a:pPr>
                      <a:r>
                        <a:rPr sz="1000" b="1" i="0">
                          <a:solidFill>
                            <a:srgbClr val="0A1F4B"/>
                          </a:solidFill>
                          <a:latin typeface="Calibri"/>
                        </a:rPr>
                        <a:t>Consistency &amp; contradiction detection</a:t>
                      </a:r>
                    </a:p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900" b="0" i="0">
                          <a:solidFill>
                            <a:srgbClr val="5A6B85"/>
                          </a:solidFill>
                          <a:latin typeface="Calibri"/>
                        </a:rPr>
                        <a:t>find hallucinated or conflicting memories</a:t>
                      </a:r>
                    </a:p>
                  </a:txBody>
                  <a:tcPr marT="73152" marB="7315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000" b="0" i="0">
                          <a:solidFill>
                            <a:srgbClr val="0F1B33"/>
                          </a:solidFill>
                          <a:latin typeface="Calibri"/>
                        </a:rPr>
                        <a:t>Trust-ordered belief revision with NLI, a source-grounding check for hallucinated memories, a per-entity drift alarm (CUSUM)</a:t>
                      </a:r>
                    </a:p>
                  </a:txBody>
                  <a:tcPr marT="73152" marB="7315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000" b="0" i="0">
                          <a:solidFill>
                            <a:srgbClr val="0F1B33"/>
                          </a:solidFill>
                          <a:latin typeface="Calibri"/>
                        </a:rPr>
                        <a:t>contradiction F1, false quarantine rate, hallucinated memories</a:t>
                      </a:r>
                    </a:p>
                  </a:txBody>
                  <a:tcPr marT="73152" marB="7315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58952"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50"/>
                        </a:spcAft>
                        <a:buNone/>
                      </a:pPr>
                      <a:r>
                        <a:rPr sz="1000" b="1" i="0">
                          <a:solidFill>
                            <a:srgbClr val="0A1F4B"/>
                          </a:solidFill>
                          <a:latin typeface="Calibri"/>
                        </a:rPr>
                        <a:t>Access control &amp; isolation testing</a:t>
                      </a:r>
                    </a:p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900" b="0" i="0">
                          <a:solidFill>
                            <a:srgbClr val="5A6B85"/>
                          </a:solidFill>
                          <a:latin typeface="Calibri"/>
                        </a:rPr>
                        <a:t>no access to unauthorised information</a:t>
                      </a:r>
                    </a:p>
                  </a:txBody>
                  <a:tcPr marT="73152" marB="73152" anchor="ctr">
                    <a:solidFill>
                      <a:srgbClr val="F6F8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000" b="0" i="0">
                          <a:solidFill>
                            <a:srgbClr val="0F1B33"/>
                          </a:solidFill>
                          <a:latin typeface="Calibri"/>
                        </a:rPr>
                        <a:t>Tenant, purpose and sensitivity filter before retrieval; cross-tenant, extraction and erasure probes</a:t>
                      </a:r>
                    </a:p>
                  </a:txBody>
                  <a:tcPr marT="73152" marB="73152" anchor="ctr">
                    <a:solidFill>
                      <a:srgbClr val="F6F8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000" b="0" i="0">
                          <a:solidFill>
                            <a:srgbClr val="0F1B33"/>
                          </a:solidFill>
                          <a:latin typeface="Calibri"/>
                        </a:rPr>
                        <a:t>cross-tenant leakage, extraction success, erasure completeness</a:t>
                      </a:r>
                    </a:p>
                  </a:txBody>
                  <a:tcPr marT="73152" marB="73152" anchor="ctr">
                    <a:solidFill>
                      <a:srgbClr val="F6F8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31" name="Rounded Rectangle 30"/>
          <p:cNvSpPr/>
          <p:nvPr/>
        </p:nvSpPr>
        <p:spPr>
          <a:xfrm>
            <a:off x="640080" y="5303520"/>
            <a:ext cx="3514344" cy="1097280"/>
          </a:xfrm>
          <a:prstGeom prst="roundRect">
            <a:avLst>
              <a:gd name="adj" fmla="val 6666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91440" rIns="128016" bIns="73152" rtlCol="0" anchor="t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None/>
            </a:pPr>
            <a:r>
              <a:rPr sz="1100" b="1" i="0">
                <a:solidFill>
                  <a:srgbClr val="0A1F4B"/>
                </a:solidFill>
                <a:latin typeface="Calibri"/>
              </a:rPr>
              <a:t>Enterprise risk removed</a:t>
            </a: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50" b="0" i="0">
                <a:solidFill>
                  <a:srgbClr val="0F1B33"/>
                </a:solidFill>
                <a:latin typeface="Calibri"/>
              </a:rPr>
              <a:t>Agents keep payees, allergies, refund rules and runbooks in memory. One poisoned record there becomes a wrong payment, prescription, refund or command, repeated in every later session.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4337304" y="5303520"/>
            <a:ext cx="3514344" cy="1097280"/>
          </a:xfrm>
          <a:prstGeom prst="roundRect">
            <a:avLst>
              <a:gd name="adj" fmla="val 6666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91440" rIns="128016" bIns="73152" rtlCol="0" anchor="t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None/>
            </a:pPr>
            <a:r>
              <a:rPr sz="1100" b="1" i="0">
                <a:solidFill>
                  <a:srgbClr val="0A1F4B"/>
                </a:solidFill>
                <a:latin typeface="Calibri"/>
              </a:rPr>
              <a:t>Audit and compliance</a:t>
            </a: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50" b="0" i="0">
                <a:solidFill>
                  <a:srgbClr val="0F1B33"/>
                </a:solidFill>
                <a:latin typeface="Calibri"/>
              </a:rPr>
              <a:t>Every memory carries a verifiable chain of custody. The provenance graph that removes a poison also carries out DPDP Act erasure (§12) on derived summaries, not just the original record.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8034527" y="5303520"/>
            <a:ext cx="3514344" cy="1097280"/>
          </a:xfrm>
          <a:prstGeom prst="roundRect">
            <a:avLst>
              <a:gd name="adj" fmla="val 6666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91440" rIns="128016" bIns="73152" rtlCol="0" anchor="t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None/>
            </a:pPr>
            <a:r>
              <a:rPr sz="1100" b="1" i="0">
                <a:solidFill>
                  <a:srgbClr val="0A1F4B"/>
                </a:solidFill>
                <a:latin typeface="Calibri"/>
              </a:rPr>
              <a:t>Works with any agent stack</a:t>
            </a: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50" b="0" i="0">
                <a:solidFill>
                  <a:srgbClr val="0F1B33"/>
                </a:solidFill>
                <a:latin typeface="Calibri"/>
              </a:rPr>
              <a:t>Custos sits between an agent and its memory store, so one gateway and one benchmark cover Mem0, Letta, Graphiti or LangGraph agents without changing the agent itself.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457200" y="320040"/>
            <a:ext cx="112745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2. Solution Approach, Innovation &amp; Creativity  </a:t>
            </a:r>
            <a:endParaRPr lang="en-US" sz="3200">
              <a:solidFill>
                <a:schemeClr val="tx2"/>
              </a:solidFill>
            </a:endParaRPr>
          </a:p>
        </p:txBody>
      </p:sp>
      <p:sp>
        <p:nvSpPr>
          <p:cNvPr id="5" name="Card 1 body">
            <a:extLst>
              <a:ext uri="{FF2B5EF4-FFF2-40B4-BE49-F238E27FC236}">
                <a16:creationId xmlns:a16="http://schemas.microsoft.com/office/drawing/2014/main" id="{19A8019F-B449-2052-768E-6B543A890A85}"/>
              </a:ext>
            </a:extLst>
          </p:cNvPr>
          <p:cNvSpPr/>
          <p:nvPr/>
        </p:nvSpPr>
        <p:spPr>
          <a:xfrm>
            <a:off x="457200" y="983673"/>
            <a:ext cx="11274552" cy="5554287"/>
          </a:xfrm>
          <a:prstGeom prst="rect">
            <a:avLst/>
          </a:prstGeom>
          <a:solidFill>
            <a:schemeClr val="bg2"/>
          </a:solidFill>
          <a:ln/>
        </p:spPr>
        <p:txBody>
          <a:bodyPr lIns="182880" tIns="91440"/>
          <a:lstStyle/>
          <a:p>
            <a:r>
              <a:rPr lang="en-US" sz="1000" i="1">
                <a:solidFill>
                  <a:srgbClr val="5A6B85"/>
                </a:solidFill>
                <a:latin typeface="Calibri"/>
              </a:rPr>
              <a:t>Provide in-depth solution details and explain what makes it original, innovative and creative</a:t>
            </a:r>
          </a:p>
          <a:p>
            <a:endParaRPr lang="en-US"/>
          </a:p>
        </p:txBody>
      </p:sp>
      <p:sp>
        <p:nvSpPr>
          <p:cNvPr id="6" name="TextBox 5"/>
          <p:cNvSpPr txBox="1"/>
          <p:nvPr/>
        </p:nvSpPr>
        <p:spPr>
          <a:xfrm>
            <a:off x="640080" y="1298448"/>
            <a:ext cx="10908792" cy="457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 b="1" i="0">
                <a:solidFill>
                  <a:srgbClr val="0A1F4B"/>
                </a:solidFill>
                <a:latin typeface="Calibri"/>
              </a:rPr>
              <a:t>A memory is evidence. </a:t>
            </a:r>
            <a:r>
              <a:rPr sz="1200" b="0" i="0">
                <a:solidFill>
                  <a:srgbClr val="0F1B33"/>
                </a:solidFill>
                <a:latin typeface="Calibri"/>
              </a:rPr>
              <a:t>Custos keeps a chain of custody for every record (who wrote it, from what, and what was later derived from it) and judges each memory by </a:t>
            </a:r>
            <a:r>
              <a:rPr sz="1200" b="1" i="0">
                <a:solidFill>
                  <a:srgbClr val="0F1B33"/>
                </a:solidFill>
                <a:latin typeface="Calibri"/>
              </a:rPr>
              <a:t>custody, consistency and consequence</a:t>
            </a:r>
            <a:r>
              <a:rPr sz="1200" b="0" i="0">
                <a:solidFill>
                  <a:srgbClr val="0F1B33"/>
                </a:solidFill>
                <a:latin typeface="Calibri"/>
              </a:rPr>
              <a:t>, never by whether its text looks malicious.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847088"/>
            <a:ext cx="2316175" cy="1591056"/>
          </a:xfrm>
          <a:prstGeom prst="roundRect">
            <a:avLst>
              <a:gd name="adj" fmla="val 4022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749808" y="1956816"/>
            <a:ext cx="347472" cy="347472"/>
          </a:xfrm>
          <a:prstGeom prst="rect">
            <a:avLst/>
          </a:prstGeom>
          <a:solidFill>
            <a:srgbClr val="0A1F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 b="1" i="0">
                <a:solidFill>
                  <a:srgbClr val="76B900"/>
                </a:solidFill>
                <a:latin typeface="Cambria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88719" y="1938528"/>
            <a:ext cx="1694383" cy="21945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00" b="1" i="0">
                <a:solidFill>
                  <a:srgbClr val="0A1F4B"/>
                </a:solidFill>
                <a:latin typeface="Calibri"/>
              </a:rPr>
              <a:t>Custody labels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88719" y="2148840"/>
            <a:ext cx="1694383" cy="16459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750" b="1" i="0" spc="80">
                <a:solidFill>
                  <a:srgbClr val="3A5A8C"/>
                </a:solidFill>
                <a:latin typeface="Calibri"/>
              </a:rPr>
              <a:t>PROVENANCE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9808" y="2377440"/>
            <a:ext cx="2096719" cy="10058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0" indent="0" algn="l">
              <a:lnSpc>
                <a:spcPct val="9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50" b="0" i="0">
                <a:solidFill>
                  <a:srgbClr val="0F1B33"/>
                </a:solidFill>
                <a:latin typeface="Calibri"/>
              </a:rPr>
              <a:t>Each record stores its source, principal, parents, raw-source hash and a trust tier, T4 system to T0 external. Anything derived inherits its lowest parent’s tier (Biba low-water mark), so summaries can’t launder poison.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093415" y="1847088"/>
            <a:ext cx="2316175" cy="1591056"/>
          </a:xfrm>
          <a:prstGeom prst="roundRect">
            <a:avLst>
              <a:gd name="adj" fmla="val 4022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3203143" y="1956816"/>
            <a:ext cx="347472" cy="347472"/>
          </a:xfrm>
          <a:prstGeom prst="rect">
            <a:avLst/>
          </a:prstGeom>
          <a:solidFill>
            <a:srgbClr val="0A1F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 b="1" i="0">
                <a:solidFill>
                  <a:srgbClr val="76B900"/>
                </a:solidFill>
                <a:latin typeface="Cambria"/>
              </a:rPr>
              <a:t>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42055" y="1938528"/>
            <a:ext cx="1694383" cy="21945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00" b="1" i="0">
                <a:solidFill>
                  <a:srgbClr val="0A1F4B"/>
                </a:solidFill>
                <a:latin typeface="Calibri"/>
              </a:rPr>
              <a:t>Trust-ordered revision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42055" y="2148840"/>
            <a:ext cx="1694383" cy="16459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750" b="1" i="0" spc="80">
                <a:solidFill>
                  <a:srgbClr val="3A5A8C"/>
                </a:solidFill>
                <a:latin typeface="Calibri"/>
              </a:rPr>
              <a:t>CONSISTENCY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203143" y="2377440"/>
            <a:ext cx="2096719" cy="10058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0" indent="0" algn="l">
              <a:lnSpc>
                <a:spcPct val="9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50" b="0" i="0">
                <a:solidFill>
                  <a:srgbClr val="0F1B33"/>
                </a:solidFill>
                <a:latin typeface="Calibri"/>
              </a:rPr>
              <a:t>Conflicts found via graph key, embeddings and NLI. Equal or higher tier: new version, the old one closed, not deleted. Lower tier: quarantine unless k independent sources agree. Claims unsupported by their source: flagged.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546750" y="1847088"/>
            <a:ext cx="2316175" cy="1591056"/>
          </a:xfrm>
          <a:prstGeom prst="roundRect">
            <a:avLst>
              <a:gd name="adj" fmla="val 4022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5656478" y="1956816"/>
            <a:ext cx="347472" cy="347472"/>
          </a:xfrm>
          <a:prstGeom prst="rect">
            <a:avLst/>
          </a:prstGeom>
          <a:solidFill>
            <a:srgbClr val="0A1F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 b="1" i="0">
                <a:solidFill>
                  <a:srgbClr val="76B900"/>
                </a:solidFill>
                <a:latin typeface="Cambria"/>
              </a:rPr>
              <a:t>03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095390" y="1938528"/>
            <a:ext cx="1694383" cy="21945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00" b="1" i="0">
                <a:solidFill>
                  <a:srgbClr val="0A1F4B"/>
                </a:solidFill>
                <a:latin typeface="Calibri"/>
              </a:rPr>
              <a:t>Isolation by construction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095390" y="2148840"/>
            <a:ext cx="1694383" cy="16459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750" b="1" i="0" spc="80">
                <a:solidFill>
                  <a:srgbClr val="3A5A8C"/>
                </a:solidFill>
                <a:latin typeface="Calibri"/>
              </a:rPr>
              <a:t>ACCESS CONTROL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656478" y="2377440"/>
            <a:ext cx="2096719" cy="10058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0" indent="0" algn="l">
              <a:lnSpc>
                <a:spcPct val="9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50" b="0" i="0">
                <a:solidFill>
                  <a:srgbClr val="0F1B33"/>
                </a:solidFill>
                <a:latin typeface="Calibri"/>
              </a:rPr>
              <a:t>Tenant, purpose and sensitivity filters run before vector search, so other tenants’ records never reach top-k. Untrusted text enters prompts only as quoted data; standing instructions need T2+ and user confirmation.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40080" y="3557016"/>
            <a:ext cx="2316175" cy="1591056"/>
          </a:xfrm>
          <a:prstGeom prst="roundRect">
            <a:avLst>
              <a:gd name="adj" fmla="val 4022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749808" y="3666744"/>
            <a:ext cx="347472" cy="347472"/>
          </a:xfrm>
          <a:prstGeom prst="rect">
            <a:avLst/>
          </a:prstGeom>
          <a:solidFill>
            <a:srgbClr val="0A1F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 b="1" i="0">
                <a:solidFill>
                  <a:srgbClr val="76B900"/>
                </a:solidFill>
                <a:latin typeface="Cambria"/>
              </a:rPr>
              <a:t>04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88719" y="3648456"/>
            <a:ext cx="1694383" cy="21945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00" b="1" i="0">
                <a:solidFill>
                  <a:srgbClr val="0A1F4B"/>
                </a:solidFill>
                <a:latin typeface="Calibri"/>
              </a:rPr>
              <a:t>Consequence gate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88719" y="3858768"/>
            <a:ext cx="1694383" cy="16459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750" b="1" i="0" spc="80">
                <a:solidFill>
                  <a:srgbClr val="3A5A8C"/>
                </a:solidFill>
                <a:latin typeface="Calibri"/>
              </a:rPr>
              <a:t>SAFETY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49808" y="4087368"/>
            <a:ext cx="2096719" cy="10058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0" indent="0" algn="l">
              <a:lnSpc>
                <a:spcPct val="9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50" b="0" i="0">
                <a:solidFill>
                  <a:srgbClr val="0F1B33"/>
                </a:solidFill>
                <a:latin typeface="Calibri"/>
              </a:rPr>
              <a:t>Before a high-risk call (pay, send, share, grant) Custos traces which memories fed each argument. Critical arguments resting only on T0–T2 memory need user confirmation; leave-one-out re-planning names the decisive memory.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3093415" y="3557016"/>
            <a:ext cx="2316175" cy="1591056"/>
          </a:xfrm>
          <a:prstGeom prst="roundRect">
            <a:avLst>
              <a:gd name="adj" fmla="val 4022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3203143" y="3666744"/>
            <a:ext cx="347472" cy="347472"/>
          </a:xfrm>
          <a:prstGeom prst="rect">
            <a:avLst/>
          </a:prstGeom>
          <a:solidFill>
            <a:srgbClr val="0A1F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 b="1" i="0">
                <a:solidFill>
                  <a:srgbClr val="76B900"/>
                </a:solidFill>
                <a:latin typeface="Cambria"/>
              </a:rPr>
              <a:t>05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642055" y="3648456"/>
            <a:ext cx="1694383" cy="21945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00" b="1" i="0">
                <a:solidFill>
                  <a:srgbClr val="0A1F4B"/>
                </a:solidFill>
                <a:latin typeface="Calibri"/>
              </a:rPr>
              <a:t>Taint-closure rollback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642055" y="3858768"/>
            <a:ext cx="1694383" cy="16459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750" b="1" i="0" spc="80">
                <a:solidFill>
                  <a:srgbClr val="3A5A8C"/>
                </a:solidFill>
                <a:latin typeface="Calibri"/>
              </a:rPr>
              <a:t>RECOVERY · PRIVACY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203143" y="4087368"/>
            <a:ext cx="2096719" cy="10058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0" indent="0" algn="l">
              <a:lnSpc>
                <a:spcPct val="9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50" b="0" i="0">
                <a:solidFill>
                  <a:srgbClr val="0F1B33"/>
                </a:solidFill>
                <a:latin typeface="Calibri"/>
              </a:rPr>
              <a:t>A confirmed poison is reverted with every record derived from it in the provenance graph; the read log lists the sessions and users it reached. The same operation performs DPDP erasure on summaries, not just the source.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5546750" y="3557016"/>
            <a:ext cx="2316175" cy="1591056"/>
          </a:xfrm>
          <a:prstGeom prst="roundRect">
            <a:avLst>
              <a:gd name="adj" fmla="val 4022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ectangle 32"/>
          <p:cNvSpPr/>
          <p:nvPr/>
        </p:nvSpPr>
        <p:spPr>
          <a:xfrm>
            <a:off x="5656478" y="3666744"/>
            <a:ext cx="347472" cy="347472"/>
          </a:xfrm>
          <a:prstGeom prst="rect">
            <a:avLst/>
          </a:prstGeom>
          <a:solidFill>
            <a:srgbClr val="0A1F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 b="1" i="0">
                <a:solidFill>
                  <a:srgbClr val="76B900"/>
                </a:solidFill>
                <a:latin typeface="Cambria"/>
              </a:rPr>
              <a:t>06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095390" y="3648456"/>
            <a:ext cx="1694383" cy="21945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00" b="1" i="0">
                <a:solidFill>
                  <a:srgbClr val="0A1F4B"/>
                </a:solidFill>
                <a:latin typeface="Calibri"/>
              </a:rPr>
              <a:t>Adaptive red-teaming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095390" y="3858768"/>
            <a:ext cx="1694383" cy="16459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750" b="1" i="0" spc="80">
                <a:solidFill>
                  <a:srgbClr val="3A5A8C"/>
                </a:solidFill>
                <a:latin typeface="Calibri"/>
              </a:rPr>
              <a:t>POISONING TESTS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656478" y="4087368"/>
            <a:ext cx="2096719" cy="10058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0" indent="0" algn="l">
              <a:lnSpc>
                <a:spcPct val="9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50" b="0" i="0">
                <a:solidFill>
                  <a:srgbClr val="0F1B33"/>
                </a:solidFill>
                <a:latin typeface="Calibri"/>
              </a:rPr>
              <a:t>Custos-Bench runs 11 attack families, including sleeper triggers, slow drift and summary laundering, then an LLM attacker rewrites each payload against the live defence. Static tests overstate robustness.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40080" y="5257800"/>
            <a:ext cx="7223760" cy="20116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50" b="1" i="0">
                <a:solidFill>
                  <a:srgbClr val="0A1F4B"/>
                </a:solidFill>
                <a:latin typeface="Calibri"/>
              </a:rPr>
              <a:t>Worked example · vendor-payment fraud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640080" y="5504688"/>
            <a:ext cx="2225040" cy="896112"/>
          </a:xfrm>
          <a:prstGeom prst="roundRect">
            <a:avLst>
              <a:gd name="adj" fmla="val 6122"/>
            </a:avLst>
          </a:prstGeom>
          <a:solidFill>
            <a:srgbClr val="FDF1DC"/>
          </a:solidFill>
          <a:ln w="12700">
            <a:solidFill>
              <a:srgbClr val="F5A62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54864" rtlCol="0" anchor="ctr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50" b="1" i="0">
                <a:solidFill>
                  <a:srgbClr val="0A1F4B"/>
                </a:solidFill>
                <a:latin typeface="Calibri"/>
              </a:rPr>
              <a:t>Session 3 · </a:t>
            </a:r>
            <a:r>
              <a:rPr sz="950" b="0" i="0">
                <a:solidFill>
                  <a:srgbClr val="0F1B33"/>
                </a:solidFill>
                <a:latin typeface="Calibri"/>
              </a:rPr>
              <a:t>an email (T0) says Acme’s bank account has changed. The undefended agent updates its vendor memory.</a:t>
            </a:r>
          </a:p>
        </p:txBody>
      </p:sp>
      <p:cxnSp>
        <p:nvCxnSpPr>
          <p:cNvPr id="39" name="Connector 38"/>
          <p:cNvCxnSpPr/>
          <p:nvPr/>
        </p:nvCxnSpPr>
        <p:spPr>
          <a:xfrm>
            <a:off x="2910840" y="5952744"/>
            <a:ext cx="182880" cy="0"/>
          </a:xfrm>
          <a:prstGeom prst="line">
            <a:avLst/>
          </a:prstGeom>
          <a:ln w="19050">
            <a:solidFill>
              <a:srgbClr val="0A1F4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Rounded Rectangle 39"/>
          <p:cNvSpPr/>
          <p:nvPr/>
        </p:nvSpPr>
        <p:spPr>
          <a:xfrm>
            <a:off x="3139440" y="5504688"/>
            <a:ext cx="2225040" cy="896112"/>
          </a:xfrm>
          <a:prstGeom prst="roundRect">
            <a:avLst>
              <a:gd name="adj" fmla="val 6122"/>
            </a:avLst>
          </a:prstGeom>
          <a:solidFill>
            <a:srgbClr val="FDF1DC"/>
          </a:solidFill>
          <a:ln w="12700">
            <a:solidFill>
              <a:srgbClr val="F5A62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54864" rtlCol="0" anchor="ctr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50" b="1" i="0">
                <a:solidFill>
                  <a:srgbClr val="0A1F4B"/>
                </a:solidFill>
                <a:latin typeface="Calibri"/>
              </a:rPr>
              <a:t>Session 9 · </a:t>
            </a:r>
            <a:r>
              <a:rPr sz="950" b="0" i="0">
                <a:solidFill>
                  <a:srgbClr val="0F1B33"/>
                </a:solidFill>
                <a:latin typeface="Calibri"/>
              </a:rPr>
              <a:t>“Pay Acme’s March invoice.” The agent pays the attacker. No single step looked malicious.</a:t>
            </a:r>
          </a:p>
        </p:txBody>
      </p:sp>
      <p:cxnSp>
        <p:nvCxnSpPr>
          <p:cNvPr id="41" name="Connector 40"/>
          <p:cNvCxnSpPr/>
          <p:nvPr/>
        </p:nvCxnSpPr>
        <p:spPr>
          <a:xfrm>
            <a:off x="5410200" y="5952744"/>
            <a:ext cx="182880" cy="0"/>
          </a:xfrm>
          <a:prstGeom prst="line">
            <a:avLst/>
          </a:prstGeom>
          <a:ln w="19050">
            <a:solidFill>
              <a:srgbClr val="0A1F4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Rounded Rectangle 41"/>
          <p:cNvSpPr/>
          <p:nvPr/>
        </p:nvSpPr>
        <p:spPr>
          <a:xfrm>
            <a:off x="5638800" y="5504688"/>
            <a:ext cx="2225040" cy="896112"/>
          </a:xfrm>
          <a:prstGeom prst="roundRect">
            <a:avLst>
              <a:gd name="adj" fmla="val 6122"/>
            </a:avLst>
          </a:prstGeom>
          <a:solidFill>
            <a:srgbClr val="EDF6DC"/>
          </a:solidFill>
          <a:ln w="12700">
            <a:solidFill>
              <a:srgbClr val="76B9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54864" rtlCol="0" anchor="ctr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50" b="1" i="0">
                <a:solidFill>
                  <a:srgbClr val="0A1F4B"/>
                </a:solidFill>
                <a:latin typeface="Calibri"/>
              </a:rPr>
              <a:t>With Custos · </a:t>
            </a:r>
            <a:r>
              <a:rPr sz="950" b="0" i="0">
                <a:solidFill>
                  <a:srgbClr val="0F1B33"/>
                </a:solidFill>
                <a:latin typeface="Calibri"/>
              </a:rPr>
              <a:t>the claim conflicts with the ERP record (T3) and is quarantined; the payment gate needs a T3 payee and blocks; the alert names the email.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8028431" y="1847088"/>
            <a:ext cx="3520440" cy="4553712"/>
          </a:xfrm>
          <a:prstGeom prst="roundRect">
            <a:avLst>
              <a:gd name="adj" fmla="val 1818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109728" rIns="146304" bIns="91440" rtlCol="0" anchor="t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sz="1300" b="1" i="0">
                <a:solidFill>
                  <a:srgbClr val="0A1F4B"/>
                </a:solidFill>
                <a:latin typeface="Cambria"/>
              </a:rPr>
              <a:t>What is new</a:t>
            </a: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150"/>
              </a:spcAft>
              <a:buNone/>
            </a:pPr>
            <a:r>
              <a:rPr sz="1000" b="1" i="0">
                <a:solidFill>
                  <a:srgbClr val="0A1F4B"/>
                </a:solidFill>
                <a:latin typeface="Calibri"/>
              </a:rPr>
              <a:t>Content filters · PIGuard, CommandSans, PromptArmor</a:t>
            </a: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sz="1000" b="0" i="0">
                <a:solidFill>
                  <a:srgbClr val="0F1B33"/>
                </a:solidFill>
                <a:latin typeface="Calibri"/>
              </a:rPr>
              <a:t>Judge text alone; the best catches 42.5% of weak-signal poisons [4]. Custos never needs the text to look malicious.</a:t>
            </a: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150"/>
              </a:spcAft>
              <a:buNone/>
            </a:pPr>
            <a:r>
              <a:rPr sz="1000" b="1" i="0">
                <a:solidFill>
                  <a:srgbClr val="0A1F4B"/>
                </a:solidFill>
                <a:latin typeface="Calibri"/>
              </a:rPr>
              <a:t>Information-flow control · CaMeL, FIDES</a:t>
            </a: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sz="1000" b="0" i="0">
                <a:solidFill>
                  <a:srgbClr val="0F1B33"/>
                </a:solidFill>
                <a:latin typeface="Calibri"/>
              </a:rPr>
              <a:t>Label data within one task [8, 9]. Custos keeps the label after the data is stored, across sessions and summaries.</a:t>
            </a: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150"/>
              </a:spcAft>
              <a:buNone/>
            </a:pPr>
            <a:r>
              <a:rPr sz="1000" b="1" i="0">
                <a:solidFill>
                  <a:srgbClr val="0A1F4B"/>
                </a:solidFill>
                <a:latin typeface="Calibri"/>
              </a:rPr>
              <a:t>A-MemGuard · ICML 2026</a:t>
            </a: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sz="1000" b="0" i="0">
                <a:solidFill>
                  <a:srgbClr val="0F1B33"/>
                </a:solidFill>
                <a:latin typeface="Calibri"/>
              </a:rPr>
              <a:t>Consensus across memories cuts attack success by over 95% [5], with no provenance, isolation or rollback. Custos adds all three and an audit trail.</a:t>
            </a: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150"/>
              </a:spcAft>
              <a:buNone/>
            </a:pPr>
            <a:r>
              <a:rPr sz="1000" b="1" i="0">
                <a:solidFill>
                  <a:srgbClr val="0A1F4B"/>
                </a:solidFill>
                <a:latin typeface="Calibri"/>
              </a:rPr>
              <a:t>Memory stores · Mem0, Letta, Zep</a:t>
            </a: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sz="1000" b="0" i="0">
                <a:solidFill>
                  <a:srgbClr val="0F1B33"/>
                </a:solidFill>
                <a:latin typeface="Calibri"/>
              </a:rPr>
              <a:t>An LLM decides updates and the newest plausible write wins [11, 12]. Custos orders writes by trust and keeps versions.</a:t>
            </a: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150"/>
              </a:spcAft>
              <a:buNone/>
            </a:pPr>
            <a:r>
              <a:rPr sz="1000" b="1" i="0">
                <a:solidFill>
                  <a:srgbClr val="0A1F4B"/>
                </a:solidFill>
                <a:latin typeface="Calibri"/>
              </a:rPr>
              <a:t>Benchmarks · MPBench, AgentDojo, LongMemEval</a:t>
            </a: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sz="1000" b="0" i="0">
                <a:solidFill>
                  <a:srgbClr val="0F1B33"/>
                </a:solidFill>
                <a:latin typeface="Calibri"/>
              </a:rPr>
              <a:t>Measure attacks or utility [4, 13]. Custos-Bench scores both, including legitimate updates wrongly blocked.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457200" y="320040"/>
            <a:ext cx="112745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3. Technical Implementation  </a:t>
            </a:r>
            <a:endParaRPr lang="en-US" sz="3200">
              <a:solidFill>
                <a:schemeClr val="tx2"/>
              </a:solidFill>
            </a:endParaRPr>
          </a:p>
        </p:txBody>
      </p:sp>
      <p:sp>
        <p:nvSpPr>
          <p:cNvPr id="5" name="Card 1 body">
            <a:extLst>
              <a:ext uri="{FF2B5EF4-FFF2-40B4-BE49-F238E27FC236}">
                <a16:creationId xmlns:a16="http://schemas.microsoft.com/office/drawing/2014/main" id="{DE173499-A638-1FF6-5DE0-1BF49C231F9B}"/>
              </a:ext>
            </a:extLst>
          </p:cNvPr>
          <p:cNvSpPr/>
          <p:nvPr/>
        </p:nvSpPr>
        <p:spPr>
          <a:xfrm>
            <a:off x="457200" y="983673"/>
            <a:ext cx="11274552" cy="5554287"/>
          </a:xfrm>
          <a:prstGeom prst="rect">
            <a:avLst/>
          </a:prstGeom>
          <a:solidFill>
            <a:schemeClr val="bg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Diagram hint">
            <a:extLst>
              <a:ext uri="{FF2B5EF4-FFF2-40B4-BE49-F238E27FC236}">
                <a16:creationId xmlns:a16="http://schemas.microsoft.com/office/drawing/2014/main" id="{CE2EA272-AFF3-376F-704A-52C69FC1600F}"/>
              </a:ext>
            </a:extLst>
          </p:cNvPr>
          <p:cNvSpPr txBox="1"/>
          <p:nvPr/>
        </p:nvSpPr>
        <p:spPr>
          <a:xfrm>
            <a:off x="658368" y="1097280"/>
            <a:ext cx="5532120" cy="5340096"/>
          </a:xfrm>
          <a:prstGeom prst="rect">
            <a:avLst/>
          </a:prstGeom>
          <a:ln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lIns="355600" tIns="355600" rIns="355600" bIns="355600" rtlCol="0" anchor="ctr"/>
          <a:lstStyle/>
          <a:p>
            <a:endParaRPr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EFFA427-C999-AC3B-740D-C7521C1C1EFB}"/>
              </a:ext>
            </a:extLst>
          </p:cNvPr>
          <p:cNvSpPr txBox="1"/>
          <p:nvPr/>
        </p:nvSpPr>
        <p:spPr>
          <a:xfrm>
            <a:off x="6382512" y="1060704"/>
            <a:ext cx="5184648" cy="274320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/>
          <a:p>
            <a:r>
              <a:rPr lang="en-US" sz="1000" i="1">
                <a:solidFill>
                  <a:srgbClr val="5A6B85"/>
                </a:solidFill>
                <a:latin typeface="Calibri"/>
              </a:rPr>
              <a:t>Explain architectural diagram in depth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95528" y="1161288"/>
            <a:ext cx="2743200" cy="1828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00" b="1" i="0">
                <a:solidFill>
                  <a:srgbClr val="0A1F4B"/>
                </a:solidFill>
                <a:latin typeface="Calibri"/>
              </a:rPr>
              <a:t>Architecture diagram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78408" y="1417320"/>
            <a:ext cx="1200150" cy="420624"/>
          </a:xfrm>
          <a:prstGeom prst="roundRect">
            <a:avLst>
              <a:gd name="adj" fmla="val 10869"/>
            </a:avLst>
          </a:prstGeom>
          <a:solidFill>
            <a:srgbClr val="E4F0FA"/>
          </a:solidFill>
          <a:ln w="12700">
            <a:solidFill>
              <a:srgbClr val="0B7F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ctr">
            <a:noAutofit/>
          </a:bodyPr>
          <a:lstStyle/>
          <a:p>
            <a:pPr marL="0" indent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750" b="1" i="0">
                <a:solidFill>
                  <a:srgbClr val="0A1F4B"/>
                </a:solidFill>
                <a:latin typeface="Calibri"/>
              </a:rPr>
              <a:t>User</a:t>
            </a:r>
          </a:p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700" b="0" i="0">
                <a:solidFill>
                  <a:srgbClr val="5A6B85"/>
                </a:solidFill>
                <a:latin typeface="Calibri"/>
              </a:rPr>
              <a:t>T2 · T3 once confirmed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1578483" y="1837944"/>
            <a:ext cx="0" cy="146304"/>
          </a:xfrm>
          <a:prstGeom prst="line">
            <a:avLst/>
          </a:prstGeom>
          <a:ln w="11430">
            <a:solidFill>
              <a:srgbClr val="5A6B85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2269998" y="1417320"/>
            <a:ext cx="1200150" cy="420624"/>
          </a:xfrm>
          <a:prstGeom prst="roundRect">
            <a:avLst>
              <a:gd name="adj" fmla="val 10869"/>
            </a:avLst>
          </a:prstGeom>
          <a:solidFill>
            <a:srgbClr val="EDF6DC"/>
          </a:solidFill>
          <a:ln w="12700">
            <a:solidFill>
              <a:srgbClr val="76B9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ctr">
            <a:noAutofit/>
          </a:bodyPr>
          <a:lstStyle/>
          <a:p>
            <a:pPr marL="0" indent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750" b="1" i="0">
                <a:solidFill>
                  <a:srgbClr val="0A1F4B"/>
                </a:solidFill>
                <a:latin typeface="Calibri"/>
              </a:rPr>
              <a:t>Systems of record</a:t>
            </a:r>
          </a:p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700" b="0" i="0">
                <a:solidFill>
                  <a:srgbClr val="5A6B85"/>
                </a:solidFill>
                <a:latin typeface="Calibri"/>
              </a:rPr>
              <a:t>T3 · ERP, CRM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2870073" y="1837944"/>
            <a:ext cx="0" cy="146304"/>
          </a:xfrm>
          <a:prstGeom prst="line">
            <a:avLst/>
          </a:prstGeom>
          <a:ln w="11430">
            <a:solidFill>
              <a:srgbClr val="5A6B85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3561588" y="1417320"/>
            <a:ext cx="1200150" cy="420624"/>
          </a:xfrm>
          <a:prstGeom prst="roundRect">
            <a:avLst>
              <a:gd name="adj" fmla="val 10869"/>
            </a:avLst>
          </a:prstGeom>
          <a:solidFill>
            <a:srgbClr val="E4F0FA"/>
          </a:solidFill>
          <a:ln w="12700">
            <a:solidFill>
              <a:srgbClr val="0B7F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ctr">
            <a:noAutofit/>
          </a:bodyPr>
          <a:lstStyle/>
          <a:p>
            <a:pPr marL="0" indent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750" b="1" i="0">
                <a:solidFill>
                  <a:srgbClr val="0A1F4B"/>
                </a:solidFill>
                <a:latin typeface="Calibri"/>
              </a:rPr>
              <a:t>Internal tools, APIs</a:t>
            </a:r>
          </a:p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700" b="0" i="0">
                <a:solidFill>
                  <a:srgbClr val="5A6B85"/>
                </a:solidFill>
                <a:latin typeface="Calibri"/>
              </a:rPr>
              <a:t>T1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4161663" y="1837944"/>
            <a:ext cx="0" cy="146304"/>
          </a:xfrm>
          <a:prstGeom prst="line">
            <a:avLst/>
          </a:prstGeom>
          <a:ln w="11430">
            <a:solidFill>
              <a:srgbClr val="5A6B85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4853178" y="1417320"/>
            <a:ext cx="1200150" cy="420624"/>
          </a:xfrm>
          <a:prstGeom prst="roundRect">
            <a:avLst>
              <a:gd name="adj" fmla="val 10869"/>
            </a:avLst>
          </a:prstGeom>
          <a:solidFill>
            <a:srgbClr val="FDF1DC"/>
          </a:solidFill>
          <a:ln w="12700">
            <a:solidFill>
              <a:srgbClr val="F5A62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ctr">
            <a:noAutofit/>
          </a:bodyPr>
          <a:lstStyle/>
          <a:p>
            <a:pPr marL="0" indent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750" b="1" i="0">
                <a:solidFill>
                  <a:srgbClr val="0A1F4B"/>
                </a:solidFill>
                <a:latin typeface="Calibri"/>
              </a:rPr>
              <a:t>Web, email, files, peer agents</a:t>
            </a:r>
          </a:p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700" b="0" i="0">
                <a:solidFill>
                  <a:srgbClr val="5A6B85"/>
                </a:solidFill>
                <a:latin typeface="Calibri"/>
              </a:rPr>
              <a:t>T0 · untrusted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5453253" y="1837944"/>
            <a:ext cx="0" cy="146304"/>
          </a:xfrm>
          <a:prstGeom prst="line">
            <a:avLst/>
          </a:prstGeom>
          <a:ln w="11430">
            <a:solidFill>
              <a:srgbClr val="5A6B85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978408" y="1984248"/>
            <a:ext cx="5074920" cy="347472"/>
          </a:xfrm>
          <a:prstGeom prst="roundRect">
            <a:avLst>
              <a:gd name="adj" fmla="val 13157"/>
            </a:avLst>
          </a:prstGeom>
          <a:solidFill>
            <a:srgbClr val="0A1F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0" rIns="45720" bIns="0" rtlCol="0" anchor="ctr"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50" b="1" i="0">
                <a:solidFill>
                  <a:srgbClr val="FFFFFF"/>
                </a:solidFill>
                <a:latin typeface="Calibri"/>
              </a:rPr>
              <a:t>Agent runtime</a:t>
            </a:r>
            <a:r>
              <a:rPr sz="850" b="0" i="0">
                <a:solidFill>
                  <a:srgbClr val="FFFFFF"/>
                </a:solidFill>
                <a:latin typeface="Calibri"/>
              </a:rPr>
              <a:t>  ·  NeMo Agent Toolkit  ·  planner, executor, tool calls</a:t>
            </a:r>
          </a:p>
        </p:txBody>
      </p:sp>
      <p:sp>
        <p:nvSpPr>
          <p:cNvPr id="21" name="gateway"/>
          <p:cNvSpPr/>
          <p:nvPr/>
        </p:nvSpPr>
        <p:spPr>
          <a:xfrm>
            <a:off x="978408" y="2587752"/>
            <a:ext cx="5074920" cy="2103120"/>
          </a:xfrm>
          <a:prstGeom prst="roundRect">
            <a:avLst>
              <a:gd name="adj" fmla="val 3043"/>
            </a:avLst>
          </a:prstGeom>
          <a:solidFill>
            <a:srgbClr val="EEF2F8"/>
          </a:solidFill>
          <a:ln w="19050">
            <a:solidFill>
              <a:srgbClr val="0A1F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1069848" y="2633472"/>
            <a:ext cx="4892040" cy="16459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750" b="1" i="0" spc="60">
                <a:solidFill>
                  <a:srgbClr val="0A1F4B"/>
                </a:solidFill>
                <a:latin typeface="Calibri"/>
              </a:rPr>
              <a:t>CUSTOS GATEWAY</a:t>
            </a:r>
            <a:r>
              <a:rPr sz="750" b="0" i="0">
                <a:solidFill>
                  <a:srgbClr val="5A6B85"/>
                </a:solidFill>
                <a:latin typeface="Calibri"/>
              </a:rPr>
              <a:t>  ·  sole path to memory and tools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9848" y="2807208"/>
            <a:ext cx="1874519" cy="14630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650" b="1" i="0" spc="60">
                <a:solidFill>
                  <a:srgbClr val="3A5A8C"/>
                </a:solidFill>
                <a:latin typeface="Calibri"/>
              </a:rPr>
              <a:t>WRITE PATH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054096" y="2807208"/>
            <a:ext cx="1417320" cy="14630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650" b="1" i="0" spc="60">
                <a:solidFill>
                  <a:srgbClr val="3A5A8C"/>
                </a:solidFill>
                <a:latin typeface="Calibri"/>
              </a:rPr>
              <a:t>READ PATH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81144" y="2807208"/>
            <a:ext cx="1380744" cy="14630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650" b="1" i="0" spc="60">
                <a:solidFill>
                  <a:srgbClr val="3A5A8C"/>
                </a:solidFill>
                <a:latin typeface="Calibri"/>
              </a:rPr>
              <a:t>ACTION PATH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2007107" y="2331720"/>
            <a:ext cx="0" cy="658368"/>
          </a:xfrm>
          <a:prstGeom prst="line">
            <a:avLst/>
          </a:prstGeom>
          <a:ln w="13970">
            <a:solidFill>
              <a:srgbClr val="0A1F4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 flipV="1">
            <a:off x="3762756" y="2331720"/>
            <a:ext cx="0" cy="658368"/>
          </a:xfrm>
          <a:prstGeom prst="line">
            <a:avLst/>
          </a:prstGeom>
          <a:ln w="13970">
            <a:solidFill>
              <a:srgbClr val="0A1F4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5271516" y="2331720"/>
            <a:ext cx="0" cy="658368"/>
          </a:xfrm>
          <a:prstGeom prst="line">
            <a:avLst/>
          </a:prstGeom>
          <a:ln w="13970">
            <a:solidFill>
              <a:srgbClr val="0A1F4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TextBox 28"/>
          <p:cNvSpPr txBox="1"/>
          <p:nvPr/>
        </p:nvSpPr>
        <p:spPr>
          <a:xfrm>
            <a:off x="2052827" y="2377440"/>
            <a:ext cx="1188720" cy="16459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650" b="0" i="1">
                <a:solidFill>
                  <a:srgbClr val="5A6B85"/>
                </a:solidFill>
                <a:latin typeface="Calibri"/>
              </a:rPr>
              <a:t>write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808476" y="2377440"/>
            <a:ext cx="1188720" cy="16459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650" b="0" i="1">
                <a:solidFill>
                  <a:srgbClr val="5A6B85"/>
                </a:solidFill>
                <a:latin typeface="Calibri"/>
              </a:rPr>
              <a:t>retrieved memories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317236" y="2377440"/>
            <a:ext cx="1188720" cy="16459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650" b="0" i="1">
                <a:solidFill>
                  <a:srgbClr val="5A6B85"/>
                </a:solidFill>
                <a:latin typeface="Calibri"/>
              </a:rPr>
              <a:t>tool call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1069848" y="2990088"/>
            <a:ext cx="1874519" cy="310896"/>
          </a:xfrm>
          <a:prstGeom prst="roundRect">
            <a:avLst>
              <a:gd name="adj" fmla="val 11764"/>
            </a:avLst>
          </a:prstGeom>
          <a:solidFill>
            <a:srgbClr val="FFFFFF"/>
          </a:solidFill>
          <a:ln w="9525">
            <a:solidFill>
              <a:srgbClr val="0A1F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29184" tIns="18288" rIns="45720" bIns="18288" rtlCol="0" anchor="ctr">
            <a:noAutofit/>
          </a:bodyPr>
          <a:lstStyle/>
          <a:p>
            <a:pPr marL="0" indent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750" b="1" i="0">
                <a:solidFill>
                  <a:srgbClr val="0A1F4B"/>
                </a:solidFill>
                <a:latin typeface="Calibri"/>
              </a:rPr>
              <a:t>Stamp  </a:t>
            </a:r>
            <a:r>
              <a:rPr sz="750" b="0" i="0">
                <a:solidFill>
                  <a:srgbClr val="0F1B33"/>
                </a:solidFill>
                <a:latin typeface="Calibri"/>
              </a:rPr>
              <a:t>source, principal, parents, tier; signed</a:t>
            </a:r>
          </a:p>
        </p:txBody>
      </p:sp>
      <p:sp>
        <p:nvSpPr>
          <p:cNvPr id="33" name="Oval 32"/>
          <p:cNvSpPr/>
          <p:nvPr/>
        </p:nvSpPr>
        <p:spPr>
          <a:xfrm>
            <a:off x="1133856" y="3044952"/>
            <a:ext cx="201168" cy="201168"/>
          </a:xfrm>
          <a:prstGeom prst="ellipse">
            <a:avLst/>
          </a:prstGeom>
          <a:solidFill>
            <a:srgbClr val="0A1F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5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cxnSp>
        <p:nvCxnSpPr>
          <p:cNvPr id="34" name="Connector 33"/>
          <p:cNvCxnSpPr/>
          <p:nvPr/>
        </p:nvCxnSpPr>
        <p:spPr>
          <a:xfrm>
            <a:off x="2007107" y="3300984"/>
            <a:ext cx="0" cy="125272"/>
          </a:xfrm>
          <a:prstGeom prst="line">
            <a:avLst/>
          </a:prstGeom>
          <a:ln w="11430">
            <a:solidFill>
              <a:srgbClr val="0A1F4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Rounded Rectangle 34"/>
          <p:cNvSpPr/>
          <p:nvPr/>
        </p:nvSpPr>
        <p:spPr>
          <a:xfrm>
            <a:off x="1069848" y="3426256"/>
            <a:ext cx="1874519" cy="310896"/>
          </a:xfrm>
          <a:prstGeom prst="roundRect">
            <a:avLst>
              <a:gd name="adj" fmla="val 11764"/>
            </a:avLst>
          </a:prstGeom>
          <a:solidFill>
            <a:srgbClr val="FFFFFF"/>
          </a:solidFill>
          <a:ln w="9525">
            <a:solidFill>
              <a:srgbClr val="0A1F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29184" tIns="18288" rIns="45720" bIns="18288" rtlCol="0" anchor="ctr">
            <a:noAutofit/>
          </a:bodyPr>
          <a:lstStyle/>
          <a:p>
            <a:pPr marL="0" indent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750" b="1" i="0">
                <a:solidFill>
                  <a:srgbClr val="0A1F4B"/>
                </a:solidFill>
                <a:latin typeface="Calibri"/>
              </a:rPr>
              <a:t>Extract  </a:t>
            </a:r>
            <a:r>
              <a:rPr sz="750" b="0" i="0">
                <a:solidFill>
                  <a:srgbClr val="0F1B33"/>
                </a:solidFill>
                <a:latin typeface="Calibri"/>
              </a:rPr>
              <a:t>atomic claims + type · Nemotron NIM</a:t>
            </a:r>
          </a:p>
        </p:txBody>
      </p:sp>
      <p:sp>
        <p:nvSpPr>
          <p:cNvPr id="36" name="Oval 35"/>
          <p:cNvSpPr/>
          <p:nvPr/>
        </p:nvSpPr>
        <p:spPr>
          <a:xfrm>
            <a:off x="1133856" y="3481120"/>
            <a:ext cx="201168" cy="201168"/>
          </a:xfrm>
          <a:prstGeom prst="ellipse">
            <a:avLst/>
          </a:prstGeom>
          <a:solidFill>
            <a:srgbClr val="0A1F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5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cxnSp>
        <p:nvCxnSpPr>
          <p:cNvPr id="37" name="Connector 36"/>
          <p:cNvCxnSpPr/>
          <p:nvPr/>
        </p:nvCxnSpPr>
        <p:spPr>
          <a:xfrm>
            <a:off x="2007107" y="3737152"/>
            <a:ext cx="0" cy="125273"/>
          </a:xfrm>
          <a:prstGeom prst="line">
            <a:avLst/>
          </a:prstGeom>
          <a:ln w="11430">
            <a:solidFill>
              <a:srgbClr val="0A1F4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Rounded Rectangle 37"/>
          <p:cNvSpPr/>
          <p:nvPr/>
        </p:nvSpPr>
        <p:spPr>
          <a:xfrm>
            <a:off x="1069848" y="3862425"/>
            <a:ext cx="1874519" cy="310896"/>
          </a:xfrm>
          <a:prstGeom prst="roundRect">
            <a:avLst>
              <a:gd name="adj" fmla="val 11764"/>
            </a:avLst>
          </a:prstGeom>
          <a:solidFill>
            <a:srgbClr val="FFFFFF"/>
          </a:solidFill>
          <a:ln w="9525">
            <a:solidFill>
              <a:srgbClr val="0A1F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29184" tIns="18288" rIns="45720" bIns="18288" rtlCol="0" anchor="ctr">
            <a:noAutofit/>
          </a:bodyPr>
          <a:lstStyle/>
          <a:p>
            <a:pPr marL="0" indent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750" b="1" i="0">
                <a:solidFill>
                  <a:srgbClr val="0A1F4B"/>
                </a:solidFill>
                <a:latin typeface="Calibri"/>
              </a:rPr>
              <a:t>Check  </a:t>
            </a:r>
            <a:r>
              <a:rPr sz="750" b="0" i="0">
                <a:solidFill>
                  <a:srgbClr val="0F1B33"/>
                </a:solidFill>
                <a:latin typeface="Calibri"/>
              </a:rPr>
              <a:t>conflicts · NLI · grounding · drift</a:t>
            </a:r>
          </a:p>
        </p:txBody>
      </p:sp>
      <p:sp>
        <p:nvSpPr>
          <p:cNvPr id="39" name="Oval 38"/>
          <p:cNvSpPr/>
          <p:nvPr/>
        </p:nvSpPr>
        <p:spPr>
          <a:xfrm>
            <a:off x="1133856" y="3917289"/>
            <a:ext cx="201168" cy="201168"/>
          </a:xfrm>
          <a:prstGeom prst="ellipse">
            <a:avLst/>
          </a:prstGeom>
          <a:solidFill>
            <a:srgbClr val="0A1F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5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cxnSp>
        <p:nvCxnSpPr>
          <p:cNvPr id="40" name="Connector 39"/>
          <p:cNvCxnSpPr/>
          <p:nvPr/>
        </p:nvCxnSpPr>
        <p:spPr>
          <a:xfrm>
            <a:off x="2007107" y="4173321"/>
            <a:ext cx="0" cy="125273"/>
          </a:xfrm>
          <a:prstGeom prst="line">
            <a:avLst/>
          </a:prstGeom>
          <a:ln w="11430">
            <a:solidFill>
              <a:srgbClr val="0A1F4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" name="Rounded Rectangle 40"/>
          <p:cNvSpPr/>
          <p:nvPr/>
        </p:nvSpPr>
        <p:spPr>
          <a:xfrm>
            <a:off x="1069848" y="4298594"/>
            <a:ext cx="1874519" cy="310896"/>
          </a:xfrm>
          <a:prstGeom prst="roundRect">
            <a:avLst>
              <a:gd name="adj" fmla="val 11764"/>
            </a:avLst>
          </a:prstGeom>
          <a:solidFill>
            <a:srgbClr val="FFFFFF"/>
          </a:solidFill>
          <a:ln w="9525">
            <a:solidFill>
              <a:srgbClr val="0A1F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29184" tIns="18288" rIns="45720" bIns="18288" rtlCol="0" anchor="ctr">
            <a:noAutofit/>
          </a:bodyPr>
          <a:lstStyle/>
          <a:p>
            <a:pPr marL="0" indent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750" b="1" i="0">
                <a:solidFill>
                  <a:srgbClr val="0A1F4B"/>
                </a:solidFill>
                <a:latin typeface="Calibri"/>
              </a:rPr>
              <a:t>Decide  </a:t>
            </a:r>
            <a:r>
              <a:rPr sz="750" b="0" i="0">
                <a:solidFill>
                  <a:srgbClr val="0F1B33"/>
                </a:solidFill>
                <a:latin typeface="Calibri"/>
              </a:rPr>
              <a:t>commit · version · quarantine · reject</a:t>
            </a:r>
          </a:p>
        </p:txBody>
      </p:sp>
      <p:sp>
        <p:nvSpPr>
          <p:cNvPr id="42" name="Oval 41"/>
          <p:cNvSpPr/>
          <p:nvPr/>
        </p:nvSpPr>
        <p:spPr>
          <a:xfrm>
            <a:off x="1133856" y="4353458"/>
            <a:ext cx="201168" cy="201168"/>
          </a:xfrm>
          <a:prstGeom prst="ellipse">
            <a:avLst/>
          </a:prstGeom>
          <a:solidFill>
            <a:srgbClr val="0A1F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5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3054096" y="2990088"/>
            <a:ext cx="1417320" cy="1619402"/>
          </a:xfrm>
          <a:prstGeom prst="roundRect">
            <a:avLst>
              <a:gd name="adj" fmla="val 2580"/>
            </a:avLst>
          </a:prstGeom>
          <a:solidFill>
            <a:srgbClr val="FFFFFF"/>
          </a:solidFill>
          <a:ln w="9525">
            <a:solidFill>
              <a:srgbClr val="0A1F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10896" tIns="54864" rIns="64008" bIns="36576" rtlCol="0" anchor="t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None/>
            </a:pPr>
            <a:r>
              <a:rPr sz="850" b="1" i="0">
                <a:solidFill>
                  <a:srgbClr val="0A1F4B"/>
                </a:solidFill>
                <a:latin typeface="Calibri"/>
              </a:rPr>
              <a:t>Read</a:t>
            </a:r>
          </a:p>
          <a:p>
            <a:pPr marL="91440" indent="-91440"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Clr>
                <a:srgbClr val="3A5A8C"/>
              </a:buClr>
              <a:buFont typeface="Arial"/>
              <a:buChar char="•"/>
            </a:pPr>
            <a:r>
              <a:rPr sz="750" b="0" i="0">
                <a:solidFill>
                  <a:srgbClr val="0F1B33"/>
                </a:solidFill>
                <a:latin typeface="Calibri"/>
              </a:rPr>
              <a:t>filter by tenant, purpose and sensitivity before vector search</a:t>
            </a:r>
          </a:p>
          <a:p>
            <a:pPr marL="91440" indent="-91440"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Clr>
                <a:srgbClr val="3A5A8C"/>
              </a:buClr>
              <a:buFont typeface="Arial"/>
              <a:buChar char="•"/>
            </a:pPr>
            <a:r>
              <a:rPr sz="750" b="0" i="0">
                <a:solidFill>
                  <a:srgbClr val="0F1B33"/>
                </a:solidFill>
                <a:latin typeface="Calibri"/>
              </a:rPr>
              <a:t>retrieve from a partitioned index</a:t>
            </a:r>
          </a:p>
          <a:p>
            <a:pPr marL="91440" indent="-91440"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Clr>
                <a:srgbClr val="3A5A8C"/>
              </a:buClr>
              <a:buFont typeface="Arial"/>
              <a:buChar char="•"/>
            </a:pPr>
            <a:r>
              <a:rPr sz="750" b="0" i="0">
                <a:solidFill>
                  <a:srgbClr val="0F1B33"/>
                </a:solidFill>
                <a:latin typeface="Calibri"/>
              </a:rPr>
              <a:t>T0/T1 memories enter the prompt as quoted data</a:t>
            </a:r>
          </a:p>
          <a:p>
            <a:pPr marL="91440" indent="-9144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A5A8C"/>
              </a:buClr>
              <a:buFont typeface="Arial"/>
              <a:buChar char="•"/>
            </a:pPr>
            <a:r>
              <a:rPr sz="750" b="0" i="0">
                <a:solidFill>
                  <a:srgbClr val="0F1B33"/>
                </a:solidFill>
                <a:latin typeface="Calibri"/>
              </a:rPr>
              <a:t>standing instructions only from T2+</a:t>
            </a:r>
          </a:p>
        </p:txBody>
      </p:sp>
      <p:sp>
        <p:nvSpPr>
          <p:cNvPr id="44" name="Oval 43"/>
          <p:cNvSpPr/>
          <p:nvPr/>
        </p:nvSpPr>
        <p:spPr>
          <a:xfrm>
            <a:off x="3118103" y="3044952"/>
            <a:ext cx="201168" cy="201168"/>
          </a:xfrm>
          <a:prstGeom prst="ellipse">
            <a:avLst/>
          </a:prstGeom>
          <a:solidFill>
            <a:srgbClr val="0A1F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50" b="1" i="0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4581144" y="2990088"/>
            <a:ext cx="1380744" cy="1619402"/>
          </a:xfrm>
          <a:prstGeom prst="roundRect">
            <a:avLst>
              <a:gd name="adj" fmla="val 2649"/>
            </a:avLst>
          </a:prstGeom>
          <a:solidFill>
            <a:srgbClr val="FFFFFF"/>
          </a:solidFill>
          <a:ln w="9525">
            <a:solidFill>
              <a:srgbClr val="0A1F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10896" tIns="54864" rIns="64008" bIns="36576" rtlCol="0" anchor="t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None/>
            </a:pPr>
            <a:r>
              <a:rPr sz="850" b="1" i="0">
                <a:solidFill>
                  <a:srgbClr val="0A1F4B"/>
                </a:solidFill>
                <a:latin typeface="Calibri"/>
              </a:rPr>
              <a:t>Gate</a:t>
            </a:r>
          </a:p>
          <a:p>
            <a:pPr marL="91440" indent="-91440"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Clr>
                <a:srgbClr val="3A5A8C"/>
              </a:buClr>
              <a:buFont typeface="Arial"/>
              <a:buChar char="•"/>
            </a:pPr>
            <a:r>
              <a:rPr sz="750" b="0" i="0">
                <a:solidFill>
                  <a:srgbClr val="0F1B33"/>
                </a:solidFill>
                <a:latin typeface="Calibri"/>
              </a:rPr>
              <a:t>taint of each tool argument from memory tiers</a:t>
            </a:r>
          </a:p>
          <a:p>
            <a:pPr marL="91440" indent="-91440"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Clr>
                <a:srgbClr val="3A5A8C"/>
              </a:buClr>
              <a:buFont typeface="Arial"/>
              <a:buChar char="•"/>
            </a:pPr>
            <a:r>
              <a:rPr sz="750" b="0" i="0">
                <a:solidFill>
                  <a:srgbClr val="0F1B33"/>
                </a:solidFill>
                <a:latin typeface="Calibri"/>
              </a:rPr>
              <a:t>leave-one-out re-plan for high-risk calls</a:t>
            </a:r>
          </a:p>
          <a:p>
            <a:pPr marL="91440" indent="-9144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A5A8C"/>
              </a:buClr>
              <a:buFont typeface="Arial"/>
              <a:buChar char="•"/>
            </a:pPr>
            <a:r>
              <a:rPr sz="750" b="0" i="0">
                <a:solidFill>
                  <a:srgbClr val="0F1B33"/>
                </a:solidFill>
                <a:latin typeface="Calibri"/>
              </a:rPr>
              <a:t>allow · ask the user · block (NeMo Guardrails rail)</a:t>
            </a:r>
          </a:p>
        </p:txBody>
      </p:sp>
      <p:sp>
        <p:nvSpPr>
          <p:cNvPr id="46" name="Oval 45"/>
          <p:cNvSpPr/>
          <p:nvPr/>
        </p:nvSpPr>
        <p:spPr>
          <a:xfrm>
            <a:off x="4645152" y="3044952"/>
            <a:ext cx="201168" cy="201168"/>
          </a:xfrm>
          <a:prstGeom prst="ellipse">
            <a:avLst/>
          </a:prstGeom>
          <a:solidFill>
            <a:srgbClr val="0A1F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50" b="1" i="0">
                <a:solidFill>
                  <a:srgbClr val="FFFFFF"/>
                </a:solidFill>
                <a:latin typeface="Calibri"/>
              </a:rPr>
              <a:t>6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1069848" y="4873752"/>
            <a:ext cx="3401568" cy="566928"/>
          </a:xfrm>
          <a:prstGeom prst="roundRect">
            <a:avLst>
              <a:gd name="adj" fmla="val 6451"/>
            </a:avLst>
          </a:prstGeom>
          <a:solidFill>
            <a:srgbClr val="FFFFFF"/>
          </a:solidFill>
          <a:ln w="9525">
            <a:solidFill>
              <a:srgbClr val="0A1F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36576" rIns="365760" bIns="27432" rtlCol="0" anchor="ctr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  <a:buNone/>
            </a:pPr>
            <a:r>
              <a:rPr sz="750" b="1" i="0">
                <a:solidFill>
                  <a:srgbClr val="0A1F4B"/>
                </a:solidFill>
                <a:latin typeface="Calibri"/>
              </a:rPr>
              <a:t>Memory store  </a:t>
            </a:r>
            <a:r>
              <a:rPr sz="750" b="0" i="0">
                <a:solidFill>
                  <a:srgbClr val="0F1B33"/>
                </a:solidFill>
                <a:latin typeface="Calibri"/>
              </a:rPr>
              <a:t>Graphiti bi-temporal graph + Milvus (cuVS)</a:t>
            </a: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  <a:buNone/>
            </a:pPr>
            <a:r>
              <a:rPr sz="750" b="1" i="0">
                <a:solidFill>
                  <a:srgbClr val="0A1F4B"/>
                </a:solidFill>
                <a:latin typeface="Calibri"/>
              </a:rPr>
              <a:t>Custody ledger  </a:t>
            </a:r>
            <a:r>
              <a:rPr sz="750" b="0" i="0">
                <a:solidFill>
                  <a:srgbClr val="0F1B33"/>
                </a:solidFill>
                <a:latin typeface="Calibri"/>
              </a:rPr>
              <a:t>append-only, hash-chained, signed</a:t>
            </a: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750" b="1" i="0">
                <a:solidFill>
                  <a:srgbClr val="0A1F4B"/>
                </a:solidFill>
                <a:latin typeface="Calibri"/>
              </a:rPr>
              <a:t>Quarantine  </a:t>
            </a:r>
            <a:r>
              <a:rPr sz="750" b="0" i="0">
                <a:solidFill>
                  <a:srgbClr val="0F1B33"/>
                </a:solidFill>
                <a:latin typeface="Calibri"/>
              </a:rPr>
              <a:t>held writes → human review</a:t>
            </a:r>
          </a:p>
        </p:txBody>
      </p:sp>
      <p:sp>
        <p:nvSpPr>
          <p:cNvPr id="48" name="Oval 47"/>
          <p:cNvSpPr/>
          <p:nvPr/>
        </p:nvSpPr>
        <p:spPr>
          <a:xfrm>
            <a:off x="4187952" y="4937760"/>
            <a:ext cx="201168" cy="201168"/>
          </a:xfrm>
          <a:prstGeom prst="ellipse">
            <a:avLst/>
          </a:prstGeom>
          <a:solidFill>
            <a:srgbClr val="76B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50" b="1" i="0">
                <a:solidFill>
                  <a:srgbClr val="0A1F4B"/>
                </a:solidFill>
                <a:latin typeface="Calibri"/>
              </a:rPr>
              <a:t>7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3785615" y="5157216"/>
            <a:ext cx="640080" cy="25603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650" b="0" i="1">
                <a:solidFill>
                  <a:srgbClr val="5A6B85"/>
                </a:solidFill>
                <a:latin typeface="Calibri"/>
              </a:rPr>
              <a:t>rollback · erasure</a:t>
            </a:r>
          </a:p>
        </p:txBody>
      </p:sp>
      <p:cxnSp>
        <p:nvCxnSpPr>
          <p:cNvPr id="50" name="Connector 49"/>
          <p:cNvCxnSpPr/>
          <p:nvPr/>
        </p:nvCxnSpPr>
        <p:spPr>
          <a:xfrm>
            <a:off x="2007107" y="4609490"/>
            <a:ext cx="0" cy="264262"/>
          </a:xfrm>
          <a:prstGeom prst="line">
            <a:avLst/>
          </a:prstGeom>
          <a:ln w="13970">
            <a:solidFill>
              <a:srgbClr val="0A1F4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Connector 50"/>
          <p:cNvCxnSpPr/>
          <p:nvPr/>
        </p:nvCxnSpPr>
        <p:spPr>
          <a:xfrm flipV="1">
            <a:off x="3762756" y="4609490"/>
            <a:ext cx="0" cy="264262"/>
          </a:xfrm>
          <a:prstGeom prst="line">
            <a:avLst/>
          </a:prstGeom>
          <a:ln w="13970">
            <a:solidFill>
              <a:srgbClr val="0A1F4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2" name="Rounded Rectangle 51"/>
          <p:cNvSpPr/>
          <p:nvPr/>
        </p:nvSpPr>
        <p:spPr>
          <a:xfrm>
            <a:off x="4581144" y="4873752"/>
            <a:ext cx="1380744" cy="566928"/>
          </a:xfrm>
          <a:prstGeom prst="roundRect">
            <a:avLst>
              <a:gd name="adj" fmla="val 6451"/>
            </a:avLst>
          </a:prstGeom>
          <a:solidFill>
            <a:srgbClr val="FDF1DC"/>
          </a:solidFill>
          <a:ln w="12700">
            <a:solidFill>
              <a:srgbClr val="F5A62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  <a:buNone/>
            </a:pPr>
            <a:r>
              <a:rPr sz="800" b="1" i="0">
                <a:solidFill>
                  <a:srgbClr val="0A1F4B"/>
                </a:solidFill>
                <a:latin typeface="Calibri"/>
              </a:rPr>
              <a:t>High-risk tools</a:t>
            </a:r>
          </a:p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750" b="0" i="0">
                <a:solidFill>
                  <a:srgbClr val="5A6B85"/>
                </a:solidFill>
                <a:latin typeface="Calibri"/>
              </a:rPr>
              <a:t>pay · send · share · grant</a:t>
            </a:r>
          </a:p>
        </p:txBody>
      </p:sp>
      <p:cxnSp>
        <p:nvCxnSpPr>
          <p:cNvPr id="53" name="Connector 52"/>
          <p:cNvCxnSpPr/>
          <p:nvPr/>
        </p:nvCxnSpPr>
        <p:spPr>
          <a:xfrm>
            <a:off x="5271516" y="4609490"/>
            <a:ext cx="0" cy="264262"/>
          </a:xfrm>
          <a:prstGeom prst="line">
            <a:avLst/>
          </a:prstGeom>
          <a:ln w="13970">
            <a:solidFill>
              <a:srgbClr val="0A1F4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4" name="Rounded Rectangle 53"/>
          <p:cNvSpPr/>
          <p:nvPr/>
        </p:nvSpPr>
        <p:spPr>
          <a:xfrm>
            <a:off x="978408" y="5605272"/>
            <a:ext cx="5074920" cy="411480"/>
          </a:xfrm>
          <a:prstGeom prst="roundRect">
            <a:avLst>
              <a:gd name="adj" fmla="val 11111"/>
            </a:avLst>
          </a:prstGeom>
          <a:solidFill>
            <a:srgbClr val="FDF1DC"/>
          </a:solidFill>
          <a:ln w="12700">
            <a:solidFill>
              <a:srgbClr val="F5A623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18288" rIns="73152" bIns="18288" rtlCol="0" anchor="ctr"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750" b="1" i="0">
                <a:solidFill>
                  <a:srgbClr val="0A1F4B"/>
                </a:solidFill>
                <a:latin typeface="Calibri"/>
              </a:rPr>
              <a:t>Custos-Bench  </a:t>
            </a:r>
            <a:r>
              <a:rPr sz="750" b="0" i="0">
                <a:solidFill>
                  <a:srgbClr val="0F1B33"/>
                </a:solidFill>
                <a:latin typeface="Calibri"/>
              </a:rPr>
              <a:t>11 attack families · adaptive LLM attacker · finance, support, email and multi-agent scenarios · garak probes · metrics engine</a:t>
            </a:r>
          </a:p>
        </p:txBody>
      </p:sp>
      <p:cxnSp>
        <p:nvCxnSpPr>
          <p:cNvPr id="55" name="Connector 54"/>
          <p:cNvCxnSpPr/>
          <p:nvPr/>
        </p:nvCxnSpPr>
        <p:spPr>
          <a:xfrm flipH="1">
            <a:off x="841248" y="5811012"/>
            <a:ext cx="137160" cy="0"/>
          </a:xfrm>
          <a:prstGeom prst="line">
            <a:avLst/>
          </a:prstGeom>
          <a:ln w="15875">
            <a:solidFill>
              <a:srgbClr val="F5A623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Connector 55"/>
          <p:cNvCxnSpPr/>
          <p:nvPr/>
        </p:nvCxnSpPr>
        <p:spPr>
          <a:xfrm flipV="1">
            <a:off x="841248" y="1627632"/>
            <a:ext cx="0" cy="4183380"/>
          </a:xfrm>
          <a:prstGeom prst="line">
            <a:avLst/>
          </a:prstGeom>
          <a:ln w="15875">
            <a:solidFill>
              <a:srgbClr val="F5A623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" name="Connector 56"/>
          <p:cNvCxnSpPr/>
          <p:nvPr/>
        </p:nvCxnSpPr>
        <p:spPr>
          <a:xfrm>
            <a:off x="841248" y="1627632"/>
            <a:ext cx="137160" cy="0"/>
          </a:xfrm>
          <a:prstGeom prst="line">
            <a:avLst/>
          </a:prstGeom>
          <a:ln w="15875">
            <a:solidFill>
              <a:srgbClr val="F5A623"/>
            </a:solidFill>
            <a:prstDash val="dash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" name="Connector 57"/>
          <p:cNvCxnSpPr/>
          <p:nvPr/>
        </p:nvCxnSpPr>
        <p:spPr>
          <a:xfrm>
            <a:off x="2286000" y="5440680"/>
            <a:ext cx="0" cy="164592"/>
          </a:xfrm>
          <a:prstGeom prst="line">
            <a:avLst/>
          </a:prstGeom>
          <a:ln w="12700">
            <a:solidFill>
              <a:srgbClr val="F5A623"/>
            </a:solidFill>
            <a:prstDash val="dash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9" name="TextBox 58"/>
          <p:cNvSpPr txBox="1"/>
          <p:nvPr/>
        </p:nvSpPr>
        <p:spPr>
          <a:xfrm>
            <a:off x="2340864" y="5440680"/>
            <a:ext cx="1463040" cy="15544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650" b="0" i="1">
                <a:solidFill>
                  <a:srgbClr val="5A6B85"/>
                </a:solidFill>
                <a:latin typeface="Calibri"/>
              </a:rPr>
              <a:t>logs → scores</a:t>
            </a:r>
          </a:p>
        </p:txBody>
      </p:sp>
      <p:sp>
        <p:nvSpPr>
          <p:cNvPr id="60" name="Rectangle 59"/>
          <p:cNvSpPr/>
          <p:nvPr/>
        </p:nvSpPr>
        <p:spPr>
          <a:xfrm>
            <a:off x="978408" y="6144768"/>
            <a:ext cx="146304" cy="118872"/>
          </a:xfrm>
          <a:prstGeom prst="rect">
            <a:avLst/>
          </a:prstGeom>
          <a:solidFill>
            <a:srgbClr val="EDF6DC"/>
          </a:solidFill>
          <a:ln w="12700">
            <a:solidFill>
              <a:srgbClr val="76B9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1" name="TextBox 60"/>
          <p:cNvSpPr txBox="1"/>
          <p:nvPr/>
        </p:nvSpPr>
        <p:spPr>
          <a:xfrm>
            <a:off x="1170432" y="6117336"/>
            <a:ext cx="1280160" cy="1828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700" b="0" i="0">
                <a:solidFill>
                  <a:srgbClr val="5A6B85"/>
                </a:solidFill>
                <a:latin typeface="Calibri"/>
              </a:rPr>
              <a:t>T3–T4 trusted</a:t>
            </a:r>
          </a:p>
        </p:txBody>
      </p:sp>
      <p:sp>
        <p:nvSpPr>
          <p:cNvPr id="62" name="Rectangle 61"/>
          <p:cNvSpPr/>
          <p:nvPr/>
        </p:nvSpPr>
        <p:spPr>
          <a:xfrm>
            <a:off x="1873746" y="6144768"/>
            <a:ext cx="146304" cy="118872"/>
          </a:xfrm>
          <a:prstGeom prst="rect">
            <a:avLst/>
          </a:prstGeom>
          <a:solidFill>
            <a:srgbClr val="E4F0FA"/>
          </a:solidFill>
          <a:ln w="12700">
            <a:solidFill>
              <a:srgbClr val="0B7F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3" name="TextBox 62"/>
          <p:cNvSpPr txBox="1"/>
          <p:nvPr/>
        </p:nvSpPr>
        <p:spPr>
          <a:xfrm>
            <a:off x="2065770" y="6117336"/>
            <a:ext cx="1280160" cy="1828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700" b="0" i="0">
                <a:solidFill>
                  <a:srgbClr val="5A6B85"/>
                </a:solidFill>
                <a:latin typeface="Calibri"/>
              </a:rPr>
              <a:t>T1–T2 internal or user</a:t>
            </a:r>
          </a:p>
        </p:txBody>
      </p:sp>
      <p:sp>
        <p:nvSpPr>
          <p:cNvPr id="64" name="Rectangle 63"/>
          <p:cNvSpPr/>
          <p:nvPr/>
        </p:nvSpPr>
        <p:spPr>
          <a:xfrm>
            <a:off x="3062890" y="6144768"/>
            <a:ext cx="146304" cy="118872"/>
          </a:xfrm>
          <a:prstGeom prst="rect">
            <a:avLst/>
          </a:prstGeom>
          <a:solidFill>
            <a:srgbClr val="FDF1DC"/>
          </a:solidFill>
          <a:ln w="12700">
            <a:solidFill>
              <a:srgbClr val="F5A62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5" name="TextBox 64"/>
          <p:cNvSpPr txBox="1"/>
          <p:nvPr/>
        </p:nvSpPr>
        <p:spPr>
          <a:xfrm>
            <a:off x="3254914" y="6117336"/>
            <a:ext cx="1280160" cy="1828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700" b="0" i="0">
                <a:solidFill>
                  <a:srgbClr val="5A6B85"/>
                </a:solidFill>
                <a:latin typeface="Calibri"/>
              </a:rPr>
              <a:t>T0 untrusted</a:t>
            </a:r>
          </a:p>
        </p:txBody>
      </p:sp>
      <p:cxnSp>
        <p:nvCxnSpPr>
          <p:cNvPr id="66" name="Connector 65"/>
          <p:cNvCxnSpPr/>
          <p:nvPr/>
        </p:nvCxnSpPr>
        <p:spPr>
          <a:xfrm>
            <a:off x="3918174" y="6204204"/>
            <a:ext cx="292608" cy="0"/>
          </a:xfrm>
          <a:prstGeom prst="line">
            <a:avLst/>
          </a:prstGeom>
          <a:ln w="15875">
            <a:solidFill>
              <a:srgbClr val="F5A623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7" name="TextBox 66"/>
          <p:cNvSpPr txBox="1"/>
          <p:nvPr/>
        </p:nvSpPr>
        <p:spPr>
          <a:xfrm>
            <a:off x="4256502" y="6117336"/>
            <a:ext cx="1188720" cy="1828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700" b="0" i="0">
                <a:solidFill>
                  <a:srgbClr val="5A6B85"/>
                </a:solidFill>
                <a:latin typeface="Calibri"/>
              </a:rPr>
              <a:t>test traffic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6382512" y="1371600"/>
            <a:ext cx="5184648" cy="504748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sz="1300" b="1" i="0">
                <a:solidFill>
                  <a:srgbClr val="0A1F4B"/>
                </a:solidFill>
                <a:latin typeface="Cambria"/>
              </a:rPr>
              <a:t>How a memory moves through Custos</a:t>
            </a: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  <a:buNone/>
            </a:pPr>
            <a:r>
              <a:rPr sz="1050" b="1" i="0">
                <a:solidFill>
                  <a:srgbClr val="0B7FC7"/>
                </a:solidFill>
                <a:latin typeface="Calibri"/>
              </a:rPr>
              <a:t>1  </a:t>
            </a:r>
            <a:r>
              <a:rPr sz="1050" b="1" i="0">
                <a:solidFill>
                  <a:srgbClr val="0A1F4B"/>
                </a:solidFill>
                <a:latin typeface="Calibri"/>
              </a:rPr>
              <a:t>Stamp. </a:t>
            </a:r>
            <a:r>
              <a:rPr sz="1050" b="0" i="0">
                <a:solidFill>
                  <a:srgbClr val="0F1B33"/>
                </a:solidFill>
                <a:latin typeface="Calibri"/>
              </a:rPr>
              <a:t>Only the gateway holds store credentials. Each write is wrapped with source, principal, session, parent IDs, raw-source hash and trust tier, then signed and appended to the hash-chained ledger.</a:t>
            </a: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  <a:buNone/>
            </a:pPr>
            <a:r>
              <a:rPr sz="1050" b="1" i="0">
                <a:solidFill>
                  <a:srgbClr val="0B7FC7"/>
                </a:solidFill>
                <a:latin typeface="Calibri"/>
              </a:rPr>
              <a:t>2  </a:t>
            </a:r>
            <a:r>
              <a:rPr sz="1050" b="1" i="0">
                <a:solidFill>
                  <a:srgbClr val="0A1F4B"/>
                </a:solidFill>
                <a:latin typeface="Calibri"/>
              </a:rPr>
              <a:t>Extract. </a:t>
            </a:r>
            <a:r>
              <a:rPr sz="1050" b="0" i="0">
                <a:solidFill>
                  <a:srgbClr val="0F1B33"/>
                </a:solidFill>
                <a:latin typeface="Calibri"/>
              </a:rPr>
              <a:t>A Nemotron NIM splits it into atomic claims (subject, relation, object, valid-from) and types it as fact, preference, event or procedure.</a:t>
            </a: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  <a:buNone/>
            </a:pPr>
            <a:r>
              <a:rPr sz="1050" b="1" i="0">
                <a:solidFill>
                  <a:srgbClr val="0B7FC7"/>
                </a:solidFill>
                <a:latin typeface="Calibri"/>
              </a:rPr>
              <a:t>3  </a:t>
            </a:r>
            <a:r>
              <a:rPr sz="1050" b="1" i="0">
                <a:solidFill>
                  <a:srgbClr val="0A1F4B"/>
                </a:solidFill>
                <a:latin typeface="Calibri"/>
              </a:rPr>
              <a:t>Check. </a:t>
            </a:r>
            <a:r>
              <a:rPr sz="1050" b="0" i="0">
                <a:solidFill>
                  <a:srgbClr val="0F1B33"/>
                </a:solidFill>
                <a:latin typeface="Calibri"/>
              </a:rPr>
              <a:t>Conflicts come from the graph key and embeddings; a DeBERTa-v3 NLI model labels contradictions; a grounding check tests whether the cited source entails the claim; a per-entity CUSUM flags slow drift from low tiers.</a:t>
            </a: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  <a:buNone/>
            </a:pPr>
            <a:r>
              <a:rPr sz="1050" b="1" i="0">
                <a:solidFill>
                  <a:srgbClr val="0B7FC7"/>
                </a:solidFill>
                <a:latin typeface="Calibri"/>
              </a:rPr>
              <a:t>4  </a:t>
            </a:r>
            <a:r>
              <a:rPr sz="1050" b="1" i="0">
                <a:solidFill>
                  <a:srgbClr val="0A1F4B"/>
                </a:solidFill>
                <a:latin typeface="Calibri"/>
              </a:rPr>
              <a:t>Decide. </a:t>
            </a:r>
            <a:r>
              <a:rPr sz="1050" b="0" i="0">
                <a:solidFill>
                  <a:srgbClr val="0F1B33"/>
                </a:solidFill>
                <a:latin typeface="Calibri"/>
              </a:rPr>
              <a:t>Trust-order rules (OPA): commit, version (the old fact is closed in bi-temporal time, not deleted), quarantine for review, or reject. Records become retrievable only after the verdict, so checks stay off the critical path.</a:t>
            </a: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  <a:buNone/>
            </a:pPr>
            <a:r>
              <a:rPr sz="1050" b="1" i="0">
                <a:solidFill>
                  <a:srgbClr val="0B7FC7"/>
                </a:solidFill>
                <a:latin typeface="Calibri"/>
              </a:rPr>
              <a:t>5  </a:t>
            </a:r>
            <a:r>
              <a:rPr sz="1050" b="1" i="0">
                <a:solidFill>
                  <a:srgbClr val="0A1F4B"/>
                </a:solidFill>
                <a:latin typeface="Calibri"/>
              </a:rPr>
              <a:t>Read. </a:t>
            </a:r>
            <a:r>
              <a:rPr sz="1050" b="0" i="0">
                <a:solidFill>
                  <a:srgbClr val="0F1B33"/>
                </a:solidFill>
                <a:latin typeface="Calibri"/>
              </a:rPr>
              <a:t>Tenant, purpose and sensitivity filters run before vector search. T0/T1 memories reach the prompt as quoted data with labels; standing instructions load only from T2+.</a:t>
            </a: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  <a:buNone/>
            </a:pPr>
            <a:r>
              <a:rPr sz="1050" b="1" i="0">
                <a:solidFill>
                  <a:srgbClr val="0B7FC7"/>
                </a:solidFill>
                <a:latin typeface="Calibri"/>
              </a:rPr>
              <a:t>6  </a:t>
            </a:r>
            <a:r>
              <a:rPr sz="1050" b="1" i="0">
                <a:solidFill>
                  <a:srgbClr val="0A1F4B"/>
                </a:solidFill>
                <a:latin typeface="Calibri"/>
              </a:rPr>
              <a:t>Gate. </a:t>
            </a:r>
            <a:r>
              <a:rPr sz="1050" b="0" i="0">
                <a:solidFill>
                  <a:srgbClr val="0F1B33"/>
                </a:solidFill>
                <a:latin typeface="Calibri"/>
              </a:rPr>
              <a:t>Calls that move money, data or permissions are checked against the tiers behind each argument; leave-one-out re-planning finds the decisive memory; then allow, ask the user or block through a NeMo Guardrails rail.</a:t>
            </a: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  <a:buNone/>
            </a:pPr>
            <a:r>
              <a:rPr sz="1050" b="1" i="0">
                <a:solidFill>
                  <a:srgbClr val="0B7FC7"/>
                </a:solidFill>
                <a:latin typeface="Calibri"/>
              </a:rPr>
              <a:t>7  </a:t>
            </a:r>
            <a:r>
              <a:rPr sz="1050" b="1" i="0">
                <a:solidFill>
                  <a:srgbClr val="0A1F4B"/>
                </a:solidFill>
                <a:latin typeface="Calibri"/>
              </a:rPr>
              <a:t>Recover. </a:t>
            </a:r>
            <a:r>
              <a:rPr sz="1050" b="0" i="0">
                <a:solidFill>
                  <a:srgbClr val="0F1B33"/>
                </a:solidFill>
                <a:latin typeface="Calibri"/>
              </a:rPr>
              <a:t>For a confirmed poison or a DPDP erasure request: taint closure over the provenance graph, atomic revert or delete, clean re-derivation, and the exposed sessions from the read log.</a:t>
            </a:r>
          </a:p>
          <a:p>
            <a:pPr marL="0" indent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rPr sz="900" b="1" i="0">
                <a:solidFill>
                  <a:srgbClr val="0A1F4B"/>
                </a:solidFill>
                <a:latin typeface="Calibri"/>
              </a:rPr>
              <a:t>Stack  </a:t>
            </a:r>
            <a:r>
              <a:rPr sz="900" b="0" i="0">
                <a:solidFill>
                  <a:srgbClr val="5A6B85"/>
                </a:solidFill>
                <a:latin typeface="Calibri"/>
              </a:rPr>
              <a:t>NeMo Agent Toolkit with LangGraph (AutoGen for the multi-agent case) · Nemotron via NIM · NeMo Retriever embeddings · DeBERTa-v3 NLI · Graphiti on Neo4j · Milvus + cuVS · OPA · NeMo Guardrails · custom garak probes · FastAPI · OpenTelemetry. Fails closed: if a checker is down, writes wait and gated calls go to the user.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457200" y="320040"/>
            <a:ext cx="112745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3200" b="1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4. </a:t>
            </a:r>
            <a:r>
              <a:rPr lang="en-US" sz="3200" b="1">
                <a:solidFill>
                  <a:schemeClr val="tx2"/>
                </a:solidFill>
                <a:latin typeface="Cambria"/>
              </a:rPr>
              <a:t>Measurable Metrics</a:t>
            </a:r>
            <a:r>
              <a:rPr lang="en-US" sz="3200" b="1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 </a:t>
            </a:r>
            <a:endParaRPr lang="en-US" sz="3200">
              <a:solidFill>
                <a:schemeClr val="tx2"/>
              </a:solidFill>
            </a:endParaRPr>
          </a:p>
        </p:txBody>
      </p:sp>
      <p:sp>
        <p:nvSpPr>
          <p:cNvPr id="4" name="Card 1 body">
            <a:extLst>
              <a:ext uri="{FF2B5EF4-FFF2-40B4-BE49-F238E27FC236}">
                <a16:creationId xmlns:a16="http://schemas.microsoft.com/office/drawing/2014/main" id="{192B2140-395B-CEB3-768B-3727B9B1612E}"/>
              </a:ext>
            </a:extLst>
          </p:cNvPr>
          <p:cNvSpPr/>
          <p:nvPr/>
        </p:nvSpPr>
        <p:spPr>
          <a:xfrm>
            <a:off x="457200" y="983673"/>
            <a:ext cx="11274552" cy="5554287"/>
          </a:xfrm>
          <a:prstGeom prst="rect">
            <a:avLst/>
          </a:prstGeom>
          <a:solidFill>
            <a:schemeClr val="bg2"/>
          </a:solidFill>
          <a:ln/>
        </p:spPr>
        <p:txBody>
          <a:bodyPr lIns="182880" tIns="91440"/>
          <a:lstStyle/>
          <a:p>
            <a:r>
              <a:rPr lang="en-US" sz="1000" i="1">
                <a:solidFill>
                  <a:srgbClr val="5A6B85"/>
                </a:solidFill>
                <a:latin typeface="Calibri"/>
              </a:rPr>
              <a:t>Define the metrics which are relevant to the problem statement and solution</a:t>
            </a:r>
          </a:p>
        </p:txBody>
      </p:sp>
      <p:graphicFrame>
        <p:nvGraphicFramePr>
          <p:cNvPr id="5" name="metrics"/>
          <p:cNvGraphicFramePr>
            <a:graphicFrameLocks noGrp="1"/>
          </p:cNvGraphicFramePr>
          <p:nvPr/>
        </p:nvGraphicFramePr>
        <p:xfrm>
          <a:off x="640080" y="1325880"/>
          <a:ext cx="7589520" cy="4154424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10515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916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7033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65176"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950" b="1" i="0">
                          <a:solidFill>
                            <a:srgbClr val="FFFFFF"/>
                          </a:solidFill>
                          <a:latin typeface="Calibri"/>
                        </a:rPr>
                        <a:t>Area</a:t>
                      </a:r>
                    </a:p>
                  </a:txBody>
                  <a:tcPr marL="64008" marR="64008" marT="32004" marB="32004" anchor="ctr">
                    <a:solidFill>
                      <a:srgbClr val="0A1F4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950" b="1" i="0">
                          <a:solidFill>
                            <a:srgbClr val="FFFFFF"/>
                          </a:solidFill>
                          <a:latin typeface="Calibri"/>
                        </a:rPr>
                        <a:t>Metric</a:t>
                      </a:r>
                    </a:p>
                  </a:txBody>
                  <a:tcPr marL="64008" marR="64008" marT="32004" marB="32004" anchor="ctr">
                    <a:solidFill>
                      <a:srgbClr val="0A1F4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950" b="1" i="0">
                          <a:solidFill>
                            <a:srgbClr val="FFFFFF"/>
                          </a:solidFill>
                          <a:latin typeface="Calibri"/>
                        </a:rPr>
                        <a:t>Definition</a:t>
                      </a:r>
                    </a:p>
                  </a:txBody>
                  <a:tcPr marL="64008" marR="64008" marT="32004" marB="32004" anchor="ctr">
                    <a:solidFill>
                      <a:srgbClr val="0A1F4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950" b="1" i="0">
                          <a:solidFill>
                            <a:srgbClr val="FFFFFF"/>
                          </a:solidFill>
                          <a:latin typeface="Calibri"/>
                        </a:rPr>
                        <a:t>Target</a:t>
                      </a:r>
                    </a:p>
                  </a:txBody>
                  <a:tcPr marL="64008" marR="64008" marT="32004" marB="32004" anchor="ctr">
                    <a:solidFill>
                      <a:srgbClr val="0A1F4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65176">
                <a:tc rowSpan="4"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950" b="1" i="0">
                          <a:solidFill>
                            <a:srgbClr val="0A1F4B"/>
                          </a:solidFill>
                          <a:latin typeface="Calibri"/>
                        </a:rPr>
                        <a:t>Poisoning resistance</a:t>
                      </a:r>
                    </a:p>
                  </a:txBody>
                  <a:tcPr marL="64008" marR="64008" marT="32004" marB="3200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950" b="1" i="0">
                          <a:solidFill>
                            <a:srgbClr val="0F1B33"/>
                          </a:solidFill>
                          <a:latin typeface="Calibri"/>
                        </a:rPr>
                        <a:t>Injection success (ISR)</a:t>
                      </a:r>
                    </a:p>
                  </a:txBody>
                  <a:tcPr marL="64008" marR="64008" marT="32004" marB="3200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950" b="0" i="0">
                          <a:solidFill>
                            <a:srgbClr val="0F1B33"/>
                          </a:solidFill>
                          <a:latin typeface="Calibri"/>
                        </a:rPr>
                        <a:t>Poisons that become retrievable ÷ poisons attempted</a:t>
                      </a:r>
                    </a:p>
                  </a:txBody>
                  <a:tcPr marL="64008" marR="64008" marT="32004" marB="3200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950" b="1" i="0">
                          <a:solidFill>
                            <a:srgbClr val="0A1F4B"/>
                          </a:solidFill>
                          <a:latin typeface="Calibri"/>
                        </a:rPr>
                        <a:t>≤ 5%</a:t>
                      </a:r>
                    </a:p>
                  </a:txBody>
                  <a:tcPr marL="64008" marR="64008" marT="32004" marB="32004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65176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64008" marR="64008" marT="32004" marB="3200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950" b="1" i="0">
                          <a:solidFill>
                            <a:srgbClr val="0F1B33"/>
                          </a:solidFill>
                          <a:latin typeface="Calibri"/>
                        </a:rPr>
                        <a:t>Attack success (ASR)</a:t>
                      </a:r>
                    </a:p>
                  </a:txBody>
                  <a:tcPr marL="64008" marR="64008" marT="32004" marB="3200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950" b="0" i="0">
                          <a:solidFill>
                            <a:srgbClr val="0F1B33"/>
                          </a:solidFill>
                          <a:latin typeface="Calibri"/>
                        </a:rPr>
                        <a:t>Episodes where a poison causes its target behaviour ÷ attack episodes</a:t>
                      </a:r>
                    </a:p>
                  </a:txBody>
                  <a:tcPr marL="64008" marR="64008" marT="32004" marB="3200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950" b="1" i="0">
                          <a:solidFill>
                            <a:srgbClr val="0A1F4B"/>
                          </a:solidFill>
                          <a:latin typeface="Calibri"/>
                        </a:rPr>
                        <a:t>≤ 5%</a:t>
                      </a:r>
                    </a:p>
                  </a:txBody>
                  <a:tcPr marL="64008" marR="64008" marT="32004" marB="32004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53568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64008" marR="64008" marT="32004" marB="3200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950" b="1" i="0">
                          <a:solidFill>
                            <a:srgbClr val="0F1B33"/>
                          </a:solidFill>
                          <a:latin typeface="Calibri"/>
                        </a:rPr>
                        <a:t>Adaptive ASR</a:t>
                      </a:r>
                    </a:p>
                  </a:txBody>
                  <a:tcPr marL="64008" marR="64008" marT="32004" marB="3200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950" b="0" i="0">
                          <a:solidFill>
                            <a:srgbClr val="0F1B33"/>
                          </a:solidFill>
                          <a:latin typeface="Calibri"/>
                        </a:rPr>
                        <a:t>ASR after 50 attacker rewrites per payload, defence known to the attacker</a:t>
                      </a:r>
                    </a:p>
                  </a:txBody>
                  <a:tcPr marL="64008" marR="64008" marT="32004" marB="3200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950" b="1" i="0">
                          <a:solidFill>
                            <a:srgbClr val="0A1F4B"/>
                          </a:solidFill>
                          <a:latin typeface="Calibri"/>
                        </a:rPr>
                        <a:t>≤ 10%</a:t>
                      </a:r>
                    </a:p>
                  </a:txBody>
                  <a:tcPr marL="64008" marR="64008" marT="32004" marB="32004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65176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64008" marR="64008" marT="32004" marB="3200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950" b="1" i="0">
                          <a:solidFill>
                            <a:srgbClr val="0F1B33"/>
                          </a:solidFill>
                          <a:latin typeface="Calibri"/>
                        </a:rPr>
                        <a:t>Persistence</a:t>
                      </a:r>
                    </a:p>
                  </a:txBody>
                  <a:tcPr marL="64008" marR="64008" marT="32004" marB="3200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950" b="0" i="0">
                          <a:solidFill>
                            <a:srgbClr val="0F1B33"/>
                          </a:solidFill>
                          <a:latin typeface="Calibri"/>
                        </a:rPr>
                        <a:t>Sessions a stored poison keeps acting before it is rolled back</a:t>
                      </a:r>
                    </a:p>
                  </a:txBody>
                  <a:tcPr marL="64008" marR="64008" marT="32004" marB="3200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950" b="1" i="0">
                          <a:solidFill>
                            <a:srgbClr val="0A1F4B"/>
                          </a:solidFill>
                          <a:latin typeface="Calibri"/>
                        </a:rPr>
                        <a:t>≤ 1 session</a:t>
                      </a:r>
                    </a:p>
                  </a:txBody>
                  <a:tcPr marL="64008" marR="64008" marT="32004" marB="32004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53568">
                <a:tc rowSpan="2"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950" b="1" i="0">
                          <a:solidFill>
                            <a:srgbClr val="0A1F4B"/>
                          </a:solidFill>
                          <a:latin typeface="Calibri"/>
                        </a:rPr>
                        <a:t>Provenance</a:t>
                      </a:r>
                    </a:p>
                  </a:txBody>
                  <a:tcPr marL="64008" marR="64008" marT="32004" marB="32004" anchor="ctr">
                    <a:solidFill>
                      <a:srgbClr val="F6F8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950" b="1" i="0">
                          <a:solidFill>
                            <a:srgbClr val="0F1B33"/>
                          </a:solidFill>
                          <a:latin typeface="Calibri"/>
                        </a:rPr>
                        <a:t>Lineage · tamper detection</a:t>
                      </a:r>
                    </a:p>
                  </a:txBody>
                  <a:tcPr marL="64008" marR="64008" marT="32004" marB="32004" anchor="ctr">
                    <a:solidFill>
                      <a:srgbClr val="F6F8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950" b="0" i="0">
                          <a:solidFill>
                            <a:srgbClr val="0F1B33"/>
                          </a:solidFill>
                          <a:latin typeface="Calibri"/>
                        </a:rPr>
                        <a:t>Records whose custody chain verifies to a raw source; ledger edits caught</a:t>
                      </a:r>
                    </a:p>
                  </a:txBody>
                  <a:tcPr marL="64008" marR="64008" marT="32004" marB="32004" anchor="ctr">
                    <a:solidFill>
                      <a:srgbClr val="F6F8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950" b="1" i="0">
                          <a:solidFill>
                            <a:srgbClr val="0A1F4B"/>
                          </a:solidFill>
                          <a:latin typeface="Calibri"/>
                        </a:rPr>
                        <a:t>100% · 100%</a:t>
                      </a:r>
                    </a:p>
                  </a:txBody>
                  <a:tcPr marL="64008" marR="64008" marT="32004" marB="32004" anchor="ctr">
                    <a:solidFill>
                      <a:srgbClr val="F6F8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65176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64008" marR="64008" marT="32004" marB="32004" anchor="ctr">
                    <a:solidFill>
                      <a:srgbClr val="F6F8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950" b="1" i="0">
                          <a:solidFill>
                            <a:srgbClr val="0F1B33"/>
                          </a:solidFill>
                          <a:latin typeface="Calibri"/>
                        </a:rPr>
                        <a:t>Attribution accuracy</a:t>
                      </a:r>
                    </a:p>
                  </a:txBody>
                  <a:tcPr marL="64008" marR="64008" marT="32004" marB="32004" anchor="ctr">
                    <a:solidFill>
                      <a:srgbClr val="F6F8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950" b="0" i="0">
                          <a:solidFill>
                            <a:srgbClr val="0F1B33"/>
                          </a:solidFill>
                          <a:latin typeface="Calibri"/>
                        </a:rPr>
                        <a:t>Harmful actions traced to the true source record</a:t>
                      </a:r>
                    </a:p>
                  </a:txBody>
                  <a:tcPr marL="64008" marR="64008" marT="32004" marB="32004" anchor="ctr">
                    <a:solidFill>
                      <a:srgbClr val="F6F8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950" b="1" i="0">
                          <a:solidFill>
                            <a:srgbClr val="0A1F4B"/>
                          </a:solidFill>
                          <a:latin typeface="Calibri"/>
                        </a:rPr>
                        <a:t>≥ 95%</a:t>
                      </a:r>
                    </a:p>
                  </a:txBody>
                  <a:tcPr marL="64008" marR="64008" marT="32004" marB="32004" anchor="ctr">
                    <a:solidFill>
                      <a:srgbClr val="F6F8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65176">
                <a:tc rowSpan="3"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950" b="1" i="0">
                          <a:solidFill>
                            <a:srgbClr val="0A1F4B"/>
                          </a:solidFill>
                          <a:latin typeface="Calibri"/>
                        </a:rPr>
                        <a:t>Consistency</a:t>
                      </a:r>
                    </a:p>
                  </a:txBody>
                  <a:tcPr marL="64008" marR="64008" marT="32004" marB="3200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950" b="1" i="0">
                          <a:solidFill>
                            <a:srgbClr val="0F1B33"/>
                          </a:solidFill>
                          <a:latin typeface="Calibri"/>
                        </a:rPr>
                        <a:t>Contradiction F1</a:t>
                      </a:r>
                    </a:p>
                  </a:txBody>
                  <a:tcPr marL="64008" marR="64008" marT="32004" marB="3200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950" b="0" i="0">
                          <a:solidFill>
                            <a:srgbClr val="0F1B33"/>
                          </a:solidFill>
                          <a:latin typeface="Calibri"/>
                        </a:rPr>
                        <a:t>On a labelled mix of poisoned claims and legitimate updates</a:t>
                      </a:r>
                    </a:p>
                  </a:txBody>
                  <a:tcPr marL="64008" marR="64008" marT="32004" marB="3200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950" b="1" i="0">
                          <a:solidFill>
                            <a:srgbClr val="0A1F4B"/>
                          </a:solidFill>
                          <a:latin typeface="Calibri"/>
                        </a:rPr>
                        <a:t>≥ 0.90</a:t>
                      </a:r>
                    </a:p>
                  </a:txBody>
                  <a:tcPr marL="64008" marR="64008" marT="32004" marB="32004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65176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64008" marR="64008" marT="32004" marB="3200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950" b="1" i="0">
                          <a:solidFill>
                            <a:srgbClr val="0F1B33"/>
                          </a:solidFill>
                          <a:latin typeface="Calibri"/>
                        </a:rPr>
                        <a:t>False quarantine rate</a:t>
                      </a:r>
                    </a:p>
                  </a:txBody>
                  <a:tcPr marL="64008" marR="64008" marT="32004" marB="3200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950" b="0" i="0">
                          <a:solidFill>
                            <a:srgbClr val="0F1B33"/>
                          </a:solidFill>
                          <a:latin typeface="Calibri"/>
                        </a:rPr>
                        <a:t>Legitimate updates held for review ÷ legitimate updates</a:t>
                      </a:r>
                    </a:p>
                  </a:txBody>
                  <a:tcPr marL="64008" marR="64008" marT="32004" marB="3200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950" b="1" i="0">
                          <a:solidFill>
                            <a:srgbClr val="0A1F4B"/>
                          </a:solidFill>
                          <a:latin typeface="Calibri"/>
                        </a:rPr>
                        <a:t>≤ 2%</a:t>
                      </a:r>
                    </a:p>
                  </a:txBody>
                  <a:tcPr marL="64008" marR="64008" marT="32004" marB="32004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65176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64008" marR="64008" marT="32004" marB="3200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950" b="1" i="0">
                          <a:solidFill>
                            <a:srgbClr val="0F1B33"/>
                          </a:solidFill>
                          <a:latin typeface="Calibri"/>
                        </a:rPr>
                        <a:t>Hallucinated memories</a:t>
                      </a:r>
                    </a:p>
                  </a:txBody>
                  <a:tcPr marL="64008" marR="64008" marT="32004" marB="3200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950" b="0" i="0">
                          <a:solidFill>
                            <a:srgbClr val="0F1B33"/>
                          </a:solidFill>
                          <a:latin typeface="Calibri"/>
                        </a:rPr>
                        <a:t>Stored claims not entailed by their own cited source</a:t>
                      </a:r>
                    </a:p>
                  </a:txBody>
                  <a:tcPr marL="64008" marR="64008" marT="32004" marB="3200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950" b="1" i="0">
                          <a:solidFill>
                            <a:srgbClr val="0A1F4B"/>
                          </a:solidFill>
                          <a:latin typeface="Calibri"/>
                        </a:rPr>
                        <a:t>≤ 1%</a:t>
                      </a:r>
                    </a:p>
                  </a:txBody>
                  <a:tcPr marL="64008" marR="64008" marT="32004" marB="32004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65176">
                <a:tc rowSpan="3"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950" b="1" i="0">
                          <a:solidFill>
                            <a:srgbClr val="0A1F4B"/>
                          </a:solidFill>
                          <a:latin typeface="Calibri"/>
                        </a:rPr>
                        <a:t>Access &amp; isolation</a:t>
                      </a:r>
                    </a:p>
                  </a:txBody>
                  <a:tcPr marL="64008" marR="64008" marT="32004" marB="32004" anchor="ctr">
                    <a:solidFill>
                      <a:srgbClr val="F6F8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950" b="1" i="0">
                          <a:solidFill>
                            <a:srgbClr val="0F1B33"/>
                          </a:solidFill>
                          <a:latin typeface="Calibri"/>
                        </a:rPr>
                        <a:t>Cross-tenant leakage</a:t>
                      </a:r>
                    </a:p>
                  </a:txBody>
                  <a:tcPr marL="64008" marR="64008" marT="32004" marB="32004" anchor="ctr">
                    <a:solidFill>
                      <a:srgbClr val="F6F8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950" b="0" i="0">
                          <a:solidFill>
                            <a:srgbClr val="0F1B33"/>
                          </a:solidFill>
                          <a:latin typeface="Calibri"/>
                        </a:rPr>
                        <a:t>Retrievals that return another tenant’s record</a:t>
                      </a:r>
                    </a:p>
                  </a:txBody>
                  <a:tcPr marL="64008" marR="64008" marT="32004" marB="32004" anchor="ctr">
                    <a:solidFill>
                      <a:srgbClr val="F6F8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950" b="1" i="0">
                          <a:solidFill>
                            <a:srgbClr val="0A1F4B"/>
                          </a:solidFill>
                          <a:latin typeface="Calibri"/>
                        </a:rPr>
                        <a:t>0 in 10,000</a:t>
                      </a:r>
                    </a:p>
                  </a:txBody>
                  <a:tcPr marL="64008" marR="64008" marT="32004" marB="32004" anchor="ctr">
                    <a:solidFill>
                      <a:srgbClr val="F6F8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65176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64008" marR="64008" marT="32004" marB="32004" anchor="ctr">
                    <a:solidFill>
                      <a:srgbClr val="F6F8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950" b="1" i="0">
                          <a:solidFill>
                            <a:srgbClr val="0F1B33"/>
                          </a:solidFill>
                          <a:latin typeface="Calibri"/>
                        </a:rPr>
                        <a:t>Extraction success</a:t>
                      </a:r>
                    </a:p>
                  </a:txBody>
                  <a:tcPr marL="64008" marR="64008" marT="32004" marB="32004" anchor="ctr">
                    <a:solidFill>
                      <a:srgbClr val="F6F8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950" b="0" i="0">
                          <a:solidFill>
                            <a:srgbClr val="0F1B33"/>
                          </a:solidFill>
                          <a:latin typeface="Calibri"/>
                        </a:rPr>
                        <a:t>Private records recovered by extraction prompts ÷ records targeted</a:t>
                      </a:r>
                    </a:p>
                  </a:txBody>
                  <a:tcPr marL="64008" marR="64008" marT="32004" marB="32004" anchor="ctr">
                    <a:solidFill>
                      <a:srgbClr val="F6F8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950" b="1" i="0">
                          <a:solidFill>
                            <a:srgbClr val="0A1F4B"/>
                          </a:solidFill>
                          <a:latin typeface="Calibri"/>
                        </a:rPr>
                        <a:t>≤ 1%</a:t>
                      </a:r>
                    </a:p>
                  </a:txBody>
                  <a:tcPr marL="64008" marR="64008" marT="32004" marB="32004" anchor="ctr">
                    <a:solidFill>
                      <a:srgbClr val="F6F8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65176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64008" marR="64008" marT="32004" marB="32004" anchor="ctr">
                    <a:solidFill>
                      <a:srgbClr val="F6F8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950" b="1" i="0">
                          <a:solidFill>
                            <a:srgbClr val="0F1B33"/>
                          </a:solidFill>
                          <a:latin typeface="Calibri"/>
                        </a:rPr>
                        <a:t>Erasure completeness</a:t>
                      </a:r>
                    </a:p>
                  </a:txBody>
                  <a:tcPr marL="64008" marR="64008" marT="32004" marB="32004" anchor="ctr">
                    <a:solidFill>
                      <a:srgbClr val="F6F8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950" b="0" i="0">
                          <a:solidFill>
                            <a:srgbClr val="0F1B33"/>
                          </a:solidFill>
                          <a:latin typeface="Calibri"/>
                        </a:rPr>
                        <a:t>Derived records removed after a deletion request ÷ derived records</a:t>
                      </a:r>
                    </a:p>
                  </a:txBody>
                  <a:tcPr marL="64008" marR="64008" marT="32004" marB="32004" anchor="ctr">
                    <a:solidFill>
                      <a:srgbClr val="F6F8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950" b="1" i="0">
                          <a:solidFill>
                            <a:srgbClr val="0A1F4B"/>
                          </a:solidFill>
                          <a:latin typeface="Calibri"/>
                        </a:rPr>
                        <a:t>100%</a:t>
                      </a:r>
                    </a:p>
                  </a:txBody>
                  <a:tcPr marL="64008" marR="64008" marT="32004" marB="32004" anchor="ctr">
                    <a:solidFill>
                      <a:srgbClr val="F6F8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65176">
                <a:tc rowSpan="2"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950" b="1" i="0">
                          <a:solidFill>
                            <a:srgbClr val="0A1F4B"/>
                          </a:solidFill>
                          <a:latin typeface="Calibri"/>
                        </a:rPr>
                        <a:t>Utility &amp; cost</a:t>
                      </a:r>
                    </a:p>
                  </a:txBody>
                  <a:tcPr marL="64008" marR="64008" marT="32004" marB="3200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950" b="1" i="0">
                          <a:solidFill>
                            <a:srgbClr val="0F1B33"/>
                          </a:solidFill>
                          <a:latin typeface="Calibri"/>
                        </a:rPr>
                        <a:t>Utility retention</a:t>
                      </a:r>
                    </a:p>
                  </a:txBody>
                  <a:tcPr marL="64008" marR="64008" marT="32004" marB="3200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950" b="0" i="0">
                          <a:solidFill>
                            <a:srgbClr val="0F1B33"/>
                          </a:solidFill>
                          <a:latin typeface="Calibri"/>
                        </a:rPr>
                        <a:t>LongMemEval and LoCoMo accuracy, Custos on vs off</a:t>
                      </a:r>
                    </a:p>
                  </a:txBody>
                  <a:tcPr marL="64008" marR="64008" marT="32004" marB="3200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950" b="1" i="0">
                          <a:solidFill>
                            <a:srgbClr val="0A1F4B"/>
                          </a:solidFill>
                          <a:latin typeface="Calibri"/>
                        </a:rPr>
                        <a:t>≥ −2 pts</a:t>
                      </a:r>
                    </a:p>
                  </a:txBody>
                  <a:tcPr marL="64008" marR="64008" marT="32004" marB="32004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265176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64008" marR="64008" marT="32004" marB="3200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950" b="1" i="0">
                          <a:solidFill>
                            <a:srgbClr val="0F1B33"/>
                          </a:solidFill>
                          <a:latin typeface="Calibri"/>
                        </a:rPr>
                        <a:t>Overhead (p95)</a:t>
                      </a:r>
                    </a:p>
                  </a:txBody>
                  <a:tcPr marL="64008" marR="64008" marT="32004" marB="3200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950" b="0" i="0">
                          <a:solidFill>
                            <a:srgbClr val="0F1B33"/>
                          </a:solidFill>
                          <a:latin typeface="Calibri"/>
                        </a:rPr>
                        <a:t>Added latency per read · per gated call; extra tokens per write</a:t>
                      </a:r>
                    </a:p>
                  </a:txBody>
                  <a:tcPr marL="64008" marR="64008" marT="32004" marB="3200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950" b="1" i="0">
                          <a:solidFill>
                            <a:srgbClr val="0A1F4B"/>
                          </a:solidFill>
                          <a:latin typeface="Calibri"/>
                        </a:rPr>
                        <a:t>40 ms · 1.5 s · 600</a:t>
                      </a:r>
                    </a:p>
                  </a:txBody>
                  <a:tcPr marL="64008" marR="64008" marT="32004" marB="32004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</a:tbl>
          </a:graphicData>
        </a:graphic>
      </p:graphicFrame>
      <p:sp>
        <p:nvSpPr>
          <p:cNvPr id="6" name="Rounded Rectangle 5"/>
          <p:cNvSpPr/>
          <p:nvPr/>
        </p:nvSpPr>
        <p:spPr>
          <a:xfrm>
            <a:off x="640080" y="5590032"/>
            <a:ext cx="7589520" cy="810768"/>
          </a:xfrm>
          <a:prstGeom prst="roundRect">
            <a:avLst>
              <a:gd name="adj" fmla="val 5639"/>
            </a:avLst>
          </a:prstGeom>
          <a:solidFill>
            <a:srgbClr val="FDF1DC"/>
          </a:solidFill>
          <a:ln w="12700">
            <a:solidFill>
              <a:srgbClr val="F5A62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54864" rIns="109728" bIns="54864" rtlCol="0" anchor="ctr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50" b="1" i="0">
                <a:solidFill>
                  <a:srgbClr val="0A1F4B"/>
                </a:solidFill>
                <a:latin typeface="Calibri"/>
              </a:rPr>
              <a:t>Undefended baselines from the literature  </a:t>
            </a:r>
            <a:r>
              <a:rPr sz="950" b="0" i="0">
                <a:solidFill>
                  <a:srgbClr val="0F1B33"/>
                </a:solidFill>
                <a:latin typeface="Calibri"/>
              </a:rPr>
              <a:t>ISR 98.2% and ASR 76.8% (MINJA [1]) · mean ASR 50.5% across MPBench agents [4] · best off-the-shelf detector still misses 32% of poisons and 57.5% of weak-signal ones [4] · adaptive attacks exceed 90% against most prompt-injection defences [10]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430768" y="1325880"/>
            <a:ext cx="3118104" cy="5074920"/>
          </a:xfrm>
          <a:prstGeom prst="roundRect">
            <a:avLst>
              <a:gd name="adj" fmla="val 2052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128016" rIns="146304" bIns="91440" rtlCol="0" anchor="t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sz="1300" b="1" i="0">
                <a:solidFill>
                  <a:srgbClr val="0A1F4B"/>
                </a:solidFill>
                <a:latin typeface="Cambria"/>
              </a:rPr>
              <a:t>How we measure</a:t>
            </a: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sz="1050" b="1" i="0">
                <a:solidFill>
                  <a:srgbClr val="0A1F4B"/>
                </a:solidFill>
                <a:latin typeface="Calibri"/>
              </a:rPr>
              <a:t>Attacks  </a:t>
            </a:r>
            <a:r>
              <a:rPr sz="1050" b="0" i="0">
                <a:solidFill>
                  <a:srgbClr val="0F1B33"/>
                </a:solidFill>
                <a:latin typeface="Calibri"/>
              </a:rPr>
              <a:t>MPBench’s 3,240 cases [4] plus MINJA [1], AgentPoison [2] and PoisonedRAG [3] generators and our sleeper, drift and laundering sets: 11 families.</a:t>
            </a: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sz="1050" b="1" i="0">
                <a:solidFill>
                  <a:srgbClr val="0A1F4B"/>
                </a:solidFill>
                <a:latin typeface="Calibri"/>
              </a:rPr>
              <a:t>Legitimate traffic  </a:t>
            </a:r>
            <a:r>
              <a:rPr sz="1050" b="0" i="0">
                <a:solidFill>
                  <a:srgbClr val="0F1B33"/>
                </a:solidFill>
                <a:latin typeface="Calibri"/>
              </a:rPr>
              <a:t>MPBench’s 2,997 benign cases and LongMemEval knowledge updates [13], so a defence that blocks everything fails.</a:t>
            </a: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sz="1050" b="1" i="0">
                <a:solidFill>
                  <a:srgbClr val="0A1F4B"/>
                </a:solidFill>
                <a:latin typeface="Calibri"/>
              </a:rPr>
              <a:t>Systems  </a:t>
            </a:r>
            <a:r>
              <a:rPr sz="1050" b="0" i="0">
                <a:solidFill>
                  <a:srgbClr val="0F1B33"/>
                </a:solidFill>
                <a:latin typeface="Calibri"/>
              </a:rPr>
              <a:t>Mem0, Letta, Graphiti, LangGraph store; each undefended, with a prompt-injection filter (PromptArmor, NemoGuard Jailbreak Detect), with A-MemGuard, and with Custos.</a:t>
            </a: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sz="1050" b="1" i="0">
                <a:solidFill>
                  <a:srgbClr val="0A1F4B"/>
                </a:solidFill>
                <a:latin typeface="Calibri"/>
              </a:rPr>
              <a:t>Memory state  </a:t>
            </a:r>
            <a:r>
              <a:rPr sz="1050" b="0" i="0">
                <a:solidFill>
                  <a:srgbClr val="0F1B33"/>
                </a:solidFill>
                <a:latin typeface="Calibri"/>
              </a:rPr>
              <a:t>Cold and warm (1,000 prior records), since warm memory changes attack success [6].</a:t>
            </a: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sz="1050" b="1" i="0">
                <a:solidFill>
                  <a:srgbClr val="0A1F4B"/>
                </a:solidFill>
                <a:latin typeface="Calibri"/>
              </a:rPr>
              <a:t>Statistics  </a:t>
            </a:r>
            <a:r>
              <a:rPr sz="1050" b="0" i="0">
                <a:solidFill>
                  <a:srgbClr val="0F1B33"/>
                </a:solidFill>
                <a:latin typeface="Calibri"/>
              </a:rPr>
              <a:t>≥ 300 episodes per cell, 95% Wilson intervals (±2.5 pts at 5%); zero leakage means 0 in 10,000 probes, i.e. ≤ 0.03% at 95% (rule of three).</a:t>
            </a: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sz="1050" b="1" i="0">
                <a:solidFill>
                  <a:srgbClr val="0A1F4B"/>
                </a:solidFill>
                <a:latin typeface="Calibri"/>
              </a:rPr>
              <a:t>One score  </a:t>
            </a:r>
            <a:r>
              <a:rPr sz="1050" b="0" i="0">
                <a:solidFill>
                  <a:srgbClr val="0F1B33"/>
                </a:solidFill>
                <a:latin typeface="Calibri"/>
              </a:rPr>
              <a:t>Memory Governance Score = harmonic mean of the four pillar scores, so one weak pillar drags it down.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band"/>
          <p:cNvSpPr/>
          <p:nvPr/>
        </p:nvSpPr>
        <p:spPr>
          <a:xfrm>
            <a:off x="0" y="0"/>
            <a:ext cx="12188952" cy="1600200"/>
          </a:xfrm>
          <a:prstGeom prst="rect">
            <a:avLst/>
          </a:prstGeom>
          <a:solidFill>
            <a:schemeClr val="tx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 txBox="1"/>
          <p:nvPr/>
        </p:nvSpPr>
        <p:spPr>
          <a:xfrm>
            <a:off x="457200" y="3657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>
                <a:solidFill>
                  <a:schemeClr val="accent1"/>
                </a:solidFill>
              </a:rPr>
              <a:t>AEGIS 2026  ·  BACKUP MATERIAL</a:t>
            </a:r>
            <a:endParaRPr lang="en-US" sz="1200"/>
          </a:p>
        </p:txBody>
      </p:sp>
      <p:sp>
        <p:nvSpPr>
          <p:cNvPr id="4" name="Title"/>
          <p:cNvSpPr txBox="1"/>
          <p:nvPr/>
        </p:nvSpPr>
        <p:spPr>
          <a:xfrm>
            <a:off x="457200" y="685800"/>
            <a:ext cx="1127455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Appendix</a:t>
            </a:r>
            <a:endParaRPr lang="en-US" sz="4000"/>
          </a:p>
        </p:txBody>
      </p:sp>
      <p:sp>
        <p:nvSpPr>
          <p:cNvPr id="5" name="Working area"/>
          <p:cNvSpPr/>
          <p:nvPr/>
        </p:nvSpPr>
        <p:spPr>
          <a:xfrm>
            <a:off x="457200" y="1920240"/>
            <a:ext cx="11274552" cy="4434840"/>
          </a:xfrm>
          <a:prstGeom prst="rect">
            <a:avLst/>
          </a:prstGeom>
          <a:solidFill>
            <a:schemeClr val="bg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Hint"/>
          <p:cNvSpPr txBox="1"/>
          <p:nvPr/>
        </p:nvSpPr>
        <p:spPr>
          <a:xfrm>
            <a:off x="731520" y="2011680"/>
            <a:ext cx="10698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i="0">
                <a:solidFill>
                  <a:srgbClr val="0A1F4B"/>
                </a:solidFill>
                <a:latin typeface="Cambria"/>
              </a:rPr>
              <a:t>Custos-Bench attack suite and references</a:t>
            </a:r>
            <a:endParaRPr lang="en-US" sz="1600"/>
          </a:p>
        </p:txBody>
      </p:sp>
      <p:graphicFrame>
        <p:nvGraphicFramePr>
          <p:cNvPr id="7" name="attacks"/>
          <p:cNvGraphicFramePr>
            <a:graphicFrameLocks noGrp="1"/>
          </p:cNvGraphicFramePr>
          <p:nvPr/>
        </p:nvGraphicFramePr>
        <p:xfrm>
          <a:off x="685800" y="2395728"/>
          <a:ext cx="10817352" cy="2633472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3657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774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1605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17043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219456"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900" b="1" i="0">
                          <a:solidFill>
                            <a:srgbClr val="FFFFFF"/>
                          </a:solidFill>
                          <a:latin typeface="Calibri"/>
                        </a:rPr>
                        <a:t>#</a:t>
                      </a:r>
                    </a:p>
                  </a:txBody>
                  <a:tcPr marL="73152" marR="73152" marT="27432" marB="27432" anchor="ctr">
                    <a:solidFill>
                      <a:srgbClr val="0A1F4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900" b="1" i="0">
                          <a:solidFill>
                            <a:srgbClr val="FFFFFF"/>
                          </a:solidFill>
                          <a:latin typeface="Calibri"/>
                        </a:rPr>
                        <a:t>Attack family</a:t>
                      </a:r>
                    </a:p>
                  </a:txBody>
                  <a:tcPr marL="73152" marR="73152" marT="27432" marB="27432" anchor="ctr">
                    <a:solidFill>
                      <a:srgbClr val="0A1F4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900" b="1" i="0">
                          <a:solidFill>
                            <a:srgbClr val="FFFFFF"/>
                          </a:solidFill>
                          <a:latin typeface="Calibri"/>
                        </a:rPr>
                        <a:t>Enters through</a:t>
                      </a:r>
                    </a:p>
                  </a:txBody>
                  <a:tcPr marL="73152" marR="73152" marT="27432" marB="27432" anchor="ctr">
                    <a:solidFill>
                      <a:srgbClr val="0A1F4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900" b="1" i="0">
                          <a:solidFill>
                            <a:srgbClr val="FFFFFF"/>
                          </a:solidFill>
                          <a:latin typeface="Calibri"/>
                        </a:rPr>
                        <a:t>What it tests</a:t>
                      </a:r>
                    </a:p>
                  </a:txBody>
                  <a:tcPr marL="73152" marR="73152" marT="27432" marB="27432" anchor="ctr">
                    <a:solidFill>
                      <a:srgbClr val="0A1F4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900" b="1" i="0">
                          <a:solidFill>
                            <a:srgbClr val="FFFFFF"/>
                          </a:solidFill>
                          <a:latin typeface="Calibri"/>
                        </a:rPr>
                        <a:t>Source</a:t>
                      </a:r>
                    </a:p>
                  </a:txBody>
                  <a:tcPr marL="73152" marR="73152" marT="27432" marB="27432" anchor="ctr">
                    <a:solidFill>
                      <a:srgbClr val="0A1F4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9456"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900" b="1" i="0">
                          <a:solidFill>
                            <a:srgbClr val="3A5A8C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900" b="1" i="0">
                          <a:solidFill>
                            <a:srgbClr val="0A1F4B"/>
                          </a:solidFill>
                          <a:latin typeface="Calibri"/>
                        </a:rPr>
                        <a:t>Explicit command insertion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900" b="0" i="0">
                          <a:solidFill>
                            <a:srgbClr val="0F1B33"/>
                          </a:solidFill>
                          <a:latin typeface="Calibri"/>
                        </a:rPr>
                        <a:t>email, web page, file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900" b="0" i="0">
                          <a:solidFill>
                            <a:srgbClr val="0F1B33"/>
                          </a:solidFill>
                          <a:latin typeface="Calibri"/>
                        </a:rPr>
                        <a:t>an instruction saved as memory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900" b="0" i="0">
                          <a:solidFill>
                            <a:srgbClr val="5A6B85"/>
                          </a:solidFill>
                          <a:latin typeface="Calibri"/>
                        </a:rPr>
                        <a:t>[4]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9456"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900" b="1" i="0">
                          <a:solidFill>
                            <a:srgbClr val="3A5A8C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 marL="73152" marR="73152" marT="27432" marB="27432" anchor="ctr">
                    <a:solidFill>
                      <a:srgbClr val="F6F8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900" b="1" i="0">
                          <a:solidFill>
                            <a:srgbClr val="0A1F4B"/>
                          </a:solidFill>
                          <a:latin typeface="Calibri"/>
                        </a:rPr>
                        <a:t>Sleeper command</a:t>
                      </a:r>
                    </a:p>
                  </a:txBody>
                  <a:tcPr marL="73152" marR="73152" marT="27432" marB="27432" anchor="ctr">
                    <a:solidFill>
                      <a:srgbClr val="F6F8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900" b="0" i="0">
                          <a:solidFill>
                            <a:srgbClr val="0F1B33"/>
                          </a:solidFill>
                          <a:latin typeface="Calibri"/>
                        </a:rPr>
                        <a:t>any T0 content</a:t>
                      </a:r>
                    </a:p>
                  </a:txBody>
                  <a:tcPr marL="73152" marR="73152" marT="27432" marB="27432" anchor="ctr">
                    <a:solidFill>
                      <a:srgbClr val="F6F8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900" b="0" i="0">
                          <a:solidFill>
                            <a:srgbClr val="0F1B33"/>
                          </a:solidFill>
                          <a:latin typeface="Calibri"/>
                        </a:rPr>
                        <a:t>a trigger that fires sessions later</a:t>
                      </a:r>
                    </a:p>
                  </a:txBody>
                  <a:tcPr marL="73152" marR="73152" marT="27432" marB="27432" anchor="ctr">
                    <a:solidFill>
                      <a:srgbClr val="F6F8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900" b="0" i="0">
                          <a:solidFill>
                            <a:srgbClr val="5A6B85"/>
                          </a:solidFill>
                          <a:latin typeface="Calibri"/>
                        </a:rPr>
                        <a:t>[4]</a:t>
                      </a:r>
                    </a:p>
                  </a:txBody>
                  <a:tcPr marL="73152" marR="73152" marT="27432" marB="27432" anchor="ctr">
                    <a:solidFill>
                      <a:srgbClr val="F6F8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19456"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900" b="1" i="0">
                          <a:solidFill>
                            <a:srgbClr val="3A5A8C"/>
                          </a:solidFill>
                          <a:latin typeface="Calibri"/>
                        </a:rPr>
                        <a:t>3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900" b="1" i="0">
                          <a:solidFill>
                            <a:srgbClr val="0A1F4B"/>
                          </a:solidFill>
                          <a:latin typeface="Calibri"/>
                        </a:rPr>
                        <a:t>Summary laundering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900" b="0" i="0">
                          <a:solidFill>
                            <a:srgbClr val="0F1B33"/>
                          </a:solidFill>
                          <a:latin typeface="Calibri"/>
                        </a:rPr>
                        <a:t>long sessions, compaction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900" b="0" i="0">
                          <a:solidFill>
                            <a:srgbClr val="0F1B33"/>
                          </a:solidFill>
                          <a:latin typeface="Calibri"/>
                        </a:rPr>
                        <a:t>poison surviving summarisation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900" b="0" i="0">
                          <a:solidFill>
                            <a:srgbClr val="5A6B85"/>
                          </a:solidFill>
                          <a:latin typeface="Calibri"/>
                        </a:rPr>
                        <a:t>[4]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19456"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900" b="1" i="0">
                          <a:solidFill>
                            <a:srgbClr val="3A5A8C"/>
                          </a:solidFill>
                          <a:latin typeface="Calibri"/>
                        </a:rPr>
                        <a:t>4</a:t>
                      </a:r>
                    </a:p>
                  </a:txBody>
                  <a:tcPr marL="73152" marR="73152" marT="27432" marB="27432" anchor="ctr">
                    <a:solidFill>
                      <a:srgbClr val="F6F8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900" b="1" i="0">
                          <a:solidFill>
                            <a:srgbClr val="0A1F4B"/>
                          </a:solidFill>
                          <a:latin typeface="Calibri"/>
                        </a:rPr>
                        <a:t>Plausible false fact</a:t>
                      </a:r>
                    </a:p>
                  </a:txBody>
                  <a:tcPr marL="73152" marR="73152" marT="27432" marB="27432" anchor="ctr">
                    <a:solidFill>
                      <a:srgbClr val="F6F8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900" b="0" i="0">
                          <a:solidFill>
                            <a:srgbClr val="0F1B33"/>
                          </a:solidFill>
                          <a:latin typeface="Calibri"/>
                        </a:rPr>
                        <a:t>email, peer agent</a:t>
                      </a:r>
                    </a:p>
                  </a:txBody>
                  <a:tcPr marL="73152" marR="73152" marT="27432" marB="27432" anchor="ctr">
                    <a:solidFill>
                      <a:srgbClr val="F6F8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900" b="0" i="0">
                          <a:solidFill>
                            <a:srgbClr val="0F1B33"/>
                          </a:solidFill>
                          <a:latin typeface="Calibri"/>
                        </a:rPr>
                        <a:t>a fact with no imperative to flag</a:t>
                      </a:r>
                    </a:p>
                  </a:txBody>
                  <a:tcPr marL="73152" marR="73152" marT="27432" marB="27432" anchor="ctr">
                    <a:solidFill>
                      <a:srgbClr val="F6F8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900" b="0" i="0">
                          <a:solidFill>
                            <a:srgbClr val="5A6B85"/>
                          </a:solidFill>
                          <a:latin typeface="Calibri"/>
                        </a:rPr>
                        <a:t>[4]</a:t>
                      </a:r>
                    </a:p>
                  </a:txBody>
                  <a:tcPr marL="73152" marR="73152" marT="27432" marB="27432" anchor="ctr">
                    <a:solidFill>
                      <a:srgbClr val="F6F8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19456"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900" b="1" i="0">
                          <a:solidFill>
                            <a:srgbClr val="3A5A8C"/>
                          </a:solidFill>
                          <a:latin typeface="Calibri"/>
                        </a:rPr>
                        <a:t>5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900" b="1" i="0">
                          <a:solidFill>
                            <a:srgbClr val="0A1F4B"/>
                          </a:solidFill>
                          <a:latin typeface="Calibri"/>
                        </a:rPr>
                        <a:t>False precedent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900" b="0" i="0">
                          <a:solidFill>
                            <a:srgbClr val="0F1B33"/>
                          </a:solidFill>
                          <a:latin typeface="Calibri"/>
                        </a:rPr>
                        <a:t>ordinary user queries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900" b="0" i="0">
                          <a:solidFill>
                            <a:srgbClr val="0F1B33"/>
                          </a:solidFill>
                          <a:latin typeface="Calibri"/>
                        </a:rPr>
                        <a:t>a fake past success that steers reasoning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900" b="0" i="0">
                          <a:solidFill>
                            <a:srgbClr val="5A6B85"/>
                          </a:solidFill>
                          <a:latin typeface="Calibri"/>
                        </a:rPr>
                        <a:t>[1, 4]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19456"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900" b="1" i="0">
                          <a:solidFill>
                            <a:srgbClr val="3A5A8C"/>
                          </a:solidFill>
                          <a:latin typeface="Calibri"/>
                        </a:rPr>
                        <a:t>6</a:t>
                      </a:r>
                    </a:p>
                  </a:txBody>
                  <a:tcPr marL="73152" marR="73152" marT="27432" marB="27432" anchor="ctr">
                    <a:solidFill>
                      <a:srgbClr val="F6F8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900" b="1" i="0">
                          <a:solidFill>
                            <a:srgbClr val="0A1F4B"/>
                          </a:solidFill>
                          <a:latin typeface="Calibri"/>
                        </a:rPr>
                        <a:t>Poisoned procedure</a:t>
                      </a:r>
                    </a:p>
                  </a:txBody>
                  <a:tcPr marL="73152" marR="73152" marT="27432" marB="27432" anchor="ctr">
                    <a:solidFill>
                      <a:srgbClr val="F6F8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900" b="0" i="0">
                          <a:solidFill>
                            <a:srgbClr val="0F1B33"/>
                          </a:solidFill>
                          <a:latin typeface="Calibri"/>
                        </a:rPr>
                        <a:t>experience-to-skill write</a:t>
                      </a:r>
                    </a:p>
                  </a:txBody>
                  <a:tcPr marL="73152" marR="73152" marT="27432" marB="27432" anchor="ctr">
                    <a:solidFill>
                      <a:srgbClr val="F6F8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900" b="0" i="0">
                          <a:solidFill>
                            <a:srgbClr val="0F1B33"/>
                          </a:solidFill>
                          <a:latin typeface="Calibri"/>
                        </a:rPr>
                        <a:t>a malicious step in a learned skill</a:t>
                      </a:r>
                    </a:p>
                  </a:txBody>
                  <a:tcPr marL="73152" marR="73152" marT="27432" marB="27432" anchor="ctr">
                    <a:solidFill>
                      <a:srgbClr val="F6F8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900" b="0" i="0">
                          <a:solidFill>
                            <a:srgbClr val="5A6B85"/>
                          </a:solidFill>
                          <a:latin typeface="Calibri"/>
                        </a:rPr>
                        <a:t>[4]</a:t>
                      </a:r>
                    </a:p>
                  </a:txBody>
                  <a:tcPr marL="73152" marR="73152" marT="27432" marB="27432" anchor="ctr">
                    <a:solidFill>
                      <a:srgbClr val="F6F8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19456"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900" b="1" i="0">
                          <a:solidFill>
                            <a:srgbClr val="3A5A8C"/>
                          </a:solidFill>
                          <a:latin typeface="Calibri"/>
                        </a:rPr>
                        <a:t>7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900" b="1" i="0">
                          <a:solidFill>
                            <a:srgbClr val="0A1F4B"/>
                          </a:solidFill>
                          <a:latin typeface="Calibri"/>
                        </a:rPr>
                        <a:t>Retrieval-trigger backdoor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900" b="0" i="0">
                          <a:solidFill>
                            <a:srgbClr val="0F1B33"/>
                          </a:solidFill>
                          <a:latin typeface="Calibri"/>
                        </a:rPr>
                        <a:t>memory or knowledge base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900" b="0" i="0">
                          <a:solidFill>
                            <a:srgbClr val="0F1B33"/>
                          </a:solidFill>
                          <a:latin typeface="Calibri"/>
                        </a:rPr>
                        <a:t>an optimised trigger that pulls the poison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900" b="0" i="0">
                          <a:solidFill>
                            <a:srgbClr val="5A6B85"/>
                          </a:solidFill>
                          <a:latin typeface="Calibri"/>
                        </a:rPr>
                        <a:t>[2]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19456"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900" b="1" i="0">
                          <a:solidFill>
                            <a:srgbClr val="3A5A8C"/>
                          </a:solidFill>
                          <a:latin typeface="Calibri"/>
                        </a:rPr>
                        <a:t>8</a:t>
                      </a:r>
                    </a:p>
                  </a:txBody>
                  <a:tcPr marL="73152" marR="73152" marT="27432" marB="27432" anchor="ctr">
                    <a:solidFill>
                      <a:srgbClr val="F6F8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900" b="1" i="0">
                          <a:solidFill>
                            <a:srgbClr val="0A1F4B"/>
                          </a:solidFill>
                          <a:latin typeface="Calibri"/>
                        </a:rPr>
                        <a:t>Knowledge-base injection</a:t>
                      </a:r>
                    </a:p>
                  </a:txBody>
                  <a:tcPr marL="73152" marR="73152" marT="27432" marB="27432" anchor="ctr">
                    <a:solidFill>
                      <a:srgbClr val="F6F8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900" b="0" i="0">
                          <a:solidFill>
                            <a:srgbClr val="0F1B33"/>
                          </a:solidFill>
                          <a:latin typeface="Calibri"/>
                        </a:rPr>
                        <a:t>RAG corpus</a:t>
                      </a:r>
                    </a:p>
                  </a:txBody>
                  <a:tcPr marL="73152" marR="73152" marT="27432" marB="27432" anchor="ctr">
                    <a:solidFill>
                      <a:srgbClr val="F6F8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900" b="0" i="0">
                          <a:solidFill>
                            <a:srgbClr val="0F1B33"/>
                          </a:solidFill>
                          <a:latin typeface="Calibri"/>
                        </a:rPr>
                        <a:t>crafted passages per target query</a:t>
                      </a:r>
                    </a:p>
                  </a:txBody>
                  <a:tcPr marL="73152" marR="73152" marT="27432" marB="27432" anchor="ctr">
                    <a:solidFill>
                      <a:srgbClr val="F6F8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900" b="0" i="0">
                          <a:solidFill>
                            <a:srgbClr val="5A6B85"/>
                          </a:solidFill>
                          <a:latin typeface="Calibri"/>
                        </a:rPr>
                        <a:t>[3]</a:t>
                      </a:r>
                    </a:p>
                  </a:txBody>
                  <a:tcPr marL="73152" marR="73152" marT="27432" marB="27432" anchor="ctr">
                    <a:solidFill>
                      <a:srgbClr val="F6F8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19456"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900" b="1" i="0">
                          <a:solidFill>
                            <a:srgbClr val="3A5A8C"/>
                          </a:solidFill>
                          <a:latin typeface="Calibri"/>
                        </a:rPr>
                        <a:t>9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900" b="1" i="0">
                          <a:solidFill>
                            <a:srgbClr val="0A1F4B"/>
                          </a:solidFill>
                          <a:latin typeface="Calibri"/>
                        </a:rPr>
                        <a:t>Slow drift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900" b="0" i="0">
                          <a:solidFill>
                            <a:srgbClr val="0F1B33"/>
                          </a:solidFill>
                          <a:latin typeface="Calibri"/>
                        </a:rPr>
                        <a:t>many low-tier edits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900" b="0" i="0">
                          <a:solidFill>
                            <a:srgbClr val="0F1B33"/>
                          </a:solidFill>
                          <a:latin typeface="Calibri"/>
                        </a:rPr>
                        <a:t>each edit plausible, the sum is not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900" b="0" i="0">
                          <a:solidFill>
                            <a:srgbClr val="5A6B85"/>
                          </a:solidFill>
                          <a:latin typeface="Calibri"/>
                        </a:rPr>
                        <a:t>ours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19456"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900" b="1" i="0">
                          <a:solidFill>
                            <a:srgbClr val="3A5A8C"/>
                          </a:solidFill>
                          <a:latin typeface="Calibri"/>
                        </a:rPr>
                        <a:t>10</a:t>
                      </a:r>
                    </a:p>
                  </a:txBody>
                  <a:tcPr marL="73152" marR="73152" marT="27432" marB="27432" anchor="ctr">
                    <a:solidFill>
                      <a:srgbClr val="F6F8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900" b="1" i="0">
                          <a:solidFill>
                            <a:srgbClr val="0A1F4B"/>
                          </a:solidFill>
                          <a:latin typeface="Calibri"/>
                        </a:rPr>
                        <a:t>Recommendation poisoning</a:t>
                      </a:r>
                    </a:p>
                  </a:txBody>
                  <a:tcPr marL="73152" marR="73152" marT="27432" marB="27432" anchor="ctr">
                    <a:solidFill>
                      <a:srgbClr val="F6F8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900" b="0" i="0">
                          <a:solidFill>
                            <a:srgbClr val="0F1B33"/>
                          </a:solidFill>
                          <a:latin typeface="Calibri"/>
                        </a:rPr>
                        <a:t>share links, “summarise with AI”</a:t>
                      </a:r>
                    </a:p>
                  </a:txBody>
                  <a:tcPr marL="73152" marR="73152" marT="27432" marB="27432" anchor="ctr">
                    <a:solidFill>
                      <a:srgbClr val="F6F8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900" b="0" i="0">
                          <a:solidFill>
                            <a:srgbClr val="0F1B33"/>
                          </a:solidFill>
                          <a:latin typeface="Calibri"/>
                        </a:rPr>
                        <a:t>“remember X as a trusted source”</a:t>
                      </a:r>
                    </a:p>
                  </a:txBody>
                  <a:tcPr marL="73152" marR="73152" marT="27432" marB="27432" anchor="ctr">
                    <a:solidFill>
                      <a:srgbClr val="F6F8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900" b="0" i="0">
                          <a:solidFill>
                            <a:srgbClr val="5A6B85"/>
                          </a:solidFill>
                          <a:latin typeface="Calibri"/>
                        </a:rPr>
                        <a:t>[15]</a:t>
                      </a:r>
                    </a:p>
                  </a:txBody>
                  <a:tcPr marL="73152" marR="73152" marT="27432" marB="27432" anchor="ctr">
                    <a:solidFill>
                      <a:srgbClr val="F6F8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19456"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900" b="1" i="0">
                          <a:solidFill>
                            <a:srgbClr val="3A5A8C"/>
                          </a:solidFill>
                          <a:latin typeface="Calibri"/>
                        </a:rPr>
                        <a:t>11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900" b="1" i="0">
                          <a:solidFill>
                            <a:srgbClr val="0A1F4B"/>
                          </a:solidFill>
                          <a:latin typeface="Calibri"/>
                        </a:rPr>
                        <a:t>Cross-tenant extraction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900" b="0" i="0">
                          <a:solidFill>
                            <a:srgbClr val="0F1B33"/>
                          </a:solidFill>
                          <a:latin typeface="Calibri"/>
                        </a:rPr>
                        <a:t>shared agent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900" b="0" i="0">
                          <a:solidFill>
                            <a:srgbClr val="0F1B33"/>
                          </a:solidFill>
                          <a:latin typeface="Calibri"/>
                        </a:rPr>
                        <a:t>leaking other users’ memory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900" b="0" i="0">
                          <a:solidFill>
                            <a:srgbClr val="5A6B85"/>
                          </a:solidFill>
                          <a:latin typeface="Calibri"/>
                        </a:rPr>
                        <a:t>[7]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685800" y="5120640"/>
            <a:ext cx="5486400" cy="20116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50" b="1" i="0">
                <a:solidFill>
                  <a:srgbClr val="0A1F4B"/>
                </a:solidFill>
                <a:latin typeface="Calibri"/>
              </a:rPr>
              <a:t>References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5340096"/>
            <a:ext cx="5376672" cy="98755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60"/>
              </a:spcAft>
              <a:buNone/>
            </a:pPr>
            <a:r>
              <a:rPr sz="750" b="1" i="0">
                <a:solidFill>
                  <a:srgbClr val="3A5A8C"/>
                </a:solidFill>
                <a:latin typeface="Calibri"/>
              </a:rPr>
              <a:t>[1] </a:t>
            </a:r>
            <a:r>
              <a:rPr sz="750" b="0" i="0">
                <a:solidFill>
                  <a:srgbClr val="0F1B33"/>
                </a:solidFill>
                <a:latin typeface="Calibri"/>
              </a:rPr>
              <a:t>S. Dong et al. Memory Injection Attacks on LLM Agents via Query-Only Interaction (MINJA). arXiv:2503.03704, 2025.</a:t>
            </a: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60"/>
              </a:spcAft>
              <a:buNone/>
            </a:pPr>
            <a:r>
              <a:rPr sz="750" b="1" i="0">
                <a:solidFill>
                  <a:srgbClr val="3A5A8C"/>
                </a:solidFill>
                <a:latin typeface="Calibri"/>
              </a:rPr>
              <a:t>[2] </a:t>
            </a:r>
            <a:r>
              <a:rPr sz="750" b="0" i="0">
                <a:solidFill>
                  <a:srgbClr val="0F1B33"/>
                </a:solidFill>
                <a:latin typeface="Calibri"/>
              </a:rPr>
              <a:t>Z. Chen et al. AgentPoison: Red-teaming LLM Agents via Poisoning Memory or Knowledge Bases. NeurIPS 2024.</a:t>
            </a: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60"/>
              </a:spcAft>
              <a:buNone/>
            </a:pPr>
            <a:r>
              <a:rPr sz="750" b="1" i="0">
                <a:solidFill>
                  <a:srgbClr val="3A5A8C"/>
                </a:solidFill>
                <a:latin typeface="Calibri"/>
              </a:rPr>
              <a:t>[3] </a:t>
            </a:r>
            <a:r>
              <a:rPr sz="750" b="0" i="0">
                <a:solidFill>
                  <a:srgbClr val="0F1B33"/>
                </a:solidFill>
                <a:latin typeface="Calibri"/>
              </a:rPr>
              <a:t>W. Zou et al. PoisonedRAG: Knowledge Corruption Attacks to Retrieval-Augmented Generation. USENIX Security 2025.</a:t>
            </a: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60"/>
              </a:spcAft>
              <a:buNone/>
            </a:pPr>
            <a:r>
              <a:rPr sz="750" b="1" i="0">
                <a:solidFill>
                  <a:srgbClr val="3A5A8C"/>
                </a:solidFill>
                <a:latin typeface="Calibri"/>
              </a:rPr>
              <a:t>[4] </a:t>
            </a:r>
            <a:r>
              <a:rPr sz="750" b="0" i="0">
                <a:solidFill>
                  <a:srgbClr val="0F1B33"/>
                </a:solidFill>
                <a:latin typeface="Calibri"/>
              </a:rPr>
              <a:t>P. Dash et al. From Untrusted Input to Trusted Memory: Memory Poisoning in LLM Agents. arXiv:2606.04329, 2026.</a:t>
            </a: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60"/>
              </a:spcAft>
              <a:buNone/>
            </a:pPr>
            <a:r>
              <a:rPr sz="750" b="1" i="0">
                <a:solidFill>
                  <a:srgbClr val="3A5A8C"/>
                </a:solidFill>
                <a:latin typeface="Calibri"/>
              </a:rPr>
              <a:t>[5] </a:t>
            </a:r>
            <a:r>
              <a:rPr sz="750" b="0" i="0">
                <a:solidFill>
                  <a:srgbClr val="0F1B33"/>
                </a:solidFill>
                <a:latin typeface="Calibri"/>
              </a:rPr>
              <a:t>Q. Wei et al. A-MemGuard: A Proactive Defense Framework for LLM-Based Agent Memory. ICML 2026.</a:t>
            </a: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60"/>
              </a:spcAft>
              <a:buNone/>
            </a:pPr>
            <a:r>
              <a:rPr sz="750" b="1" i="0">
                <a:solidFill>
                  <a:srgbClr val="3A5A8C"/>
                </a:solidFill>
                <a:latin typeface="Calibri"/>
              </a:rPr>
              <a:t>[6] </a:t>
            </a:r>
            <a:r>
              <a:rPr sz="750" b="0" i="0">
                <a:solidFill>
                  <a:srgbClr val="0F1B33"/>
                </a:solidFill>
                <a:latin typeface="Calibri"/>
              </a:rPr>
              <a:t>B. D. Sunil et al. Memory Poisoning Attack and Defense on Memory Based LLM-Agents. arXiv:2601.05504, 2026.</a:t>
            </a: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60"/>
              </a:spcAft>
              <a:buNone/>
            </a:pPr>
            <a:r>
              <a:rPr sz="750" b="1" i="0">
                <a:solidFill>
                  <a:srgbClr val="3A5A8C"/>
                </a:solidFill>
                <a:latin typeface="Calibri"/>
              </a:rPr>
              <a:t>[7] </a:t>
            </a:r>
            <a:r>
              <a:rPr sz="750" b="0" i="0">
                <a:solidFill>
                  <a:srgbClr val="0F1B33"/>
                </a:solidFill>
                <a:latin typeface="Calibri"/>
              </a:rPr>
              <a:t>B. Wang et al. Unveiling Privacy Risks in LLM Agent Memory (MEXTRA). ACL 2025.</a:t>
            </a: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60"/>
              </a:spcAft>
              <a:buNone/>
            </a:pPr>
            <a:r>
              <a:rPr sz="750" b="1" i="0">
                <a:solidFill>
                  <a:srgbClr val="3A5A8C"/>
                </a:solidFill>
                <a:latin typeface="Calibri"/>
              </a:rPr>
              <a:t>[8] </a:t>
            </a:r>
            <a:r>
              <a:rPr sz="750" b="0" i="0">
                <a:solidFill>
                  <a:srgbClr val="0F1B33"/>
                </a:solidFill>
                <a:latin typeface="Calibri"/>
              </a:rPr>
              <a:t>E. Debenedetti et al. Defeating Prompt Injections by Design (CaMeL). arXiv:2503.18813, 2025.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126480" y="5340096"/>
            <a:ext cx="5376672" cy="98755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60"/>
              </a:spcAft>
              <a:buNone/>
            </a:pPr>
            <a:r>
              <a:rPr sz="750" b="1" i="0">
                <a:solidFill>
                  <a:srgbClr val="3A5A8C"/>
                </a:solidFill>
                <a:latin typeface="Calibri"/>
              </a:rPr>
              <a:t>[9] </a:t>
            </a:r>
            <a:r>
              <a:rPr sz="750" b="0" i="0">
                <a:solidFill>
                  <a:srgbClr val="0F1B33"/>
                </a:solidFill>
                <a:latin typeface="Calibri"/>
              </a:rPr>
              <a:t>M. Costa et al. Securing AI Agents with Information-Flow Control (FIDES). arXiv:2505.23643, 2025.</a:t>
            </a: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60"/>
              </a:spcAft>
              <a:buNone/>
            </a:pPr>
            <a:r>
              <a:rPr sz="750" b="1" i="0">
                <a:solidFill>
                  <a:srgbClr val="3A5A8C"/>
                </a:solidFill>
                <a:latin typeface="Calibri"/>
              </a:rPr>
              <a:t>[10] </a:t>
            </a:r>
            <a:r>
              <a:rPr sz="750" b="0" i="0">
                <a:solidFill>
                  <a:srgbClr val="0F1B33"/>
                </a:solidFill>
                <a:latin typeface="Calibri"/>
              </a:rPr>
              <a:t>M. Nasr et al. The Attacker Moves Second: Stronger Adaptive Attacks Bypass Defenses. USENIX Security 2026.</a:t>
            </a: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60"/>
              </a:spcAft>
              <a:buNone/>
            </a:pPr>
            <a:r>
              <a:rPr sz="750" b="1" i="0">
                <a:solidFill>
                  <a:srgbClr val="3A5A8C"/>
                </a:solidFill>
                <a:latin typeface="Calibri"/>
              </a:rPr>
              <a:t>[11] </a:t>
            </a:r>
            <a:r>
              <a:rPr sz="750" b="0" i="0">
                <a:solidFill>
                  <a:srgbClr val="0F1B33"/>
                </a:solidFill>
                <a:latin typeface="Calibri"/>
              </a:rPr>
              <a:t>P. Rasmussen et al. Zep: A Temporal Knowledge Graph Architecture for Agent Memory. arXiv:2501.13956, 2025.</a:t>
            </a: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60"/>
              </a:spcAft>
              <a:buNone/>
            </a:pPr>
            <a:r>
              <a:rPr sz="750" b="1" i="0">
                <a:solidFill>
                  <a:srgbClr val="3A5A8C"/>
                </a:solidFill>
                <a:latin typeface="Calibri"/>
              </a:rPr>
              <a:t>[12] </a:t>
            </a:r>
            <a:r>
              <a:rPr sz="750" b="0" i="0">
                <a:solidFill>
                  <a:srgbClr val="0F1B33"/>
                </a:solidFill>
                <a:latin typeface="Calibri"/>
              </a:rPr>
              <a:t>P. Chhikara et al. Mem0: Building Production-Ready AI Agents with Scalable Long-Term Memory. arXiv:2504.19413.</a:t>
            </a: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60"/>
              </a:spcAft>
              <a:buNone/>
            </a:pPr>
            <a:r>
              <a:rPr sz="750" b="1" i="0">
                <a:solidFill>
                  <a:srgbClr val="3A5A8C"/>
                </a:solidFill>
                <a:latin typeface="Calibri"/>
              </a:rPr>
              <a:t>[13] </a:t>
            </a:r>
            <a:r>
              <a:rPr sz="750" b="0" i="0">
                <a:solidFill>
                  <a:srgbClr val="0F1B33"/>
                </a:solidFill>
                <a:latin typeface="Calibri"/>
              </a:rPr>
              <a:t>D. Wu et al. LongMemEval: Benchmarking Chat Assistants on Long-Term Interactive Memory. ICLR 2025.</a:t>
            </a: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60"/>
              </a:spcAft>
              <a:buNone/>
            </a:pPr>
            <a:r>
              <a:rPr sz="750" b="1" i="0">
                <a:solidFill>
                  <a:srgbClr val="3A5A8C"/>
                </a:solidFill>
                <a:latin typeface="Calibri"/>
              </a:rPr>
              <a:t>[14] </a:t>
            </a:r>
            <a:r>
              <a:rPr sz="750" b="0" i="0">
                <a:solidFill>
                  <a:srgbClr val="0F1B33"/>
                </a:solidFill>
                <a:latin typeface="Calibri"/>
              </a:rPr>
              <a:t>OWASP GenAI Security Project. Top 10 for Agentic Applications (ASI06: Memory &amp; Context Poisoning). Dec 2025.</a:t>
            </a: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60"/>
              </a:spcAft>
              <a:buNone/>
            </a:pPr>
            <a:r>
              <a:rPr sz="750" b="1" i="0">
                <a:solidFill>
                  <a:srgbClr val="3A5A8C"/>
                </a:solidFill>
                <a:latin typeface="Calibri"/>
              </a:rPr>
              <a:t>[15] </a:t>
            </a:r>
            <a:r>
              <a:rPr sz="750" b="0" i="0">
                <a:solidFill>
                  <a:srgbClr val="0F1B33"/>
                </a:solidFill>
                <a:latin typeface="Calibri"/>
              </a:rPr>
              <a:t>Microsoft Security. AI Recommendation Poisoning, Feb 2026; Agentic AI Failure-Mode Taxonomy v2.0, Jun 2026.</a:t>
            </a: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60"/>
              </a:spcAft>
              <a:buNone/>
            </a:pPr>
            <a:r>
              <a:rPr sz="750" b="1" i="0">
                <a:solidFill>
                  <a:srgbClr val="3A5A8C"/>
                </a:solidFill>
                <a:latin typeface="Calibri"/>
              </a:rPr>
              <a:t>[16] </a:t>
            </a:r>
            <a:r>
              <a:rPr sz="750" b="0" i="0">
                <a:solidFill>
                  <a:srgbClr val="0F1B33"/>
                </a:solidFill>
                <a:latin typeface="Calibri"/>
              </a:rPr>
              <a:t>K. J. Biba. Integrity Considerations for Secure Computer Systems. MITRE MTR-3153, 1977.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AEGIS 2026">
  <a:themeElements>
    <a:clrScheme name="AEGIS 2026">
      <a:dk1>
        <a:srgbClr val="0F1B33"/>
      </a:dk1>
      <a:lt1>
        <a:srgbClr val="FFFFFF"/>
      </a:lt1>
      <a:dk2>
        <a:srgbClr val="0A1F4B"/>
      </a:dk2>
      <a:lt2>
        <a:srgbClr val="EEF2F8"/>
      </a:lt2>
      <a:accent1>
        <a:srgbClr val="76B900"/>
      </a:accent1>
      <a:accent2>
        <a:srgbClr val="0B7FC7"/>
      </a:accent2>
      <a:accent3>
        <a:srgbClr val="F5A623"/>
      </a:accent3>
      <a:accent4>
        <a:srgbClr val="5A6B85"/>
      </a:accent4>
      <a:accent5>
        <a:srgbClr val="DDE5F0"/>
      </a:accent5>
      <a:accent6>
        <a:srgbClr val="3A5A8C"/>
      </a:accent6>
      <a:hlink>
        <a:srgbClr val="0B7FC7"/>
      </a:hlink>
      <a:folHlink>
        <a:srgbClr val="5A6B85"/>
      </a:folHlink>
    </a:clrScheme>
    <a:fontScheme name="AEGIS 2026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Metadata/LabelInfo.xml><?xml version="1.0" encoding="utf-8"?>
<clbl:labelList xmlns:clbl="http://schemas.microsoft.com/office/2020/mipLabelMetadata">
  <clbl:label id="{7fd8a196-24eb-41bb-9b22-e6a1875a70f5}" enabled="1" method="Privileged" siteId="{63ce7d59-2f3e-42cd-a8cc-be764cff5eb6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Widescreen</PresentationFormat>
  <Slides>7</Slides>
  <Notes>7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8" baseType="lpstr">
      <vt:lpstr>AEGIS 2026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AEGIS 2026 - Blank Criteria Slides</dc:title>
  <dc:subject>PptxGenJS Presentation</dc:subject>
  <dc:creator>PptxGenJS</dc:creator>
  <cp:lastModifiedBy>Aditya Baghel</cp:lastModifiedBy>
  <cp:revision>2</cp:revision>
  <dcterms:created xsi:type="dcterms:W3CDTF">2026-10-13T12:57:50Z</dcterms:created>
  <dcterms:modified xsi:type="dcterms:W3CDTF">2026-10-26T05:19:26Z</dcterms:modified>
</cp:coreProperties>
</file>